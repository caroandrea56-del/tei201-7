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Black Mango Bold" charset="1" panose="02020A03060303060403"/>
      <p:regular r:id="rId16"/>
    </p:embeddedFont>
    <p:embeddedFont>
      <p:font typeface="Josefin Sans" charset="1" panose="00000500000000000000"/>
      <p:regular r:id="rId17"/>
    </p:embeddedFont>
    <p:embeddedFont>
      <p:font typeface="Josefin Sans Semi-Bold" charset="1" panose="00000700000000000000"/>
      <p:regular r:id="rId18"/>
    </p:embeddedFont>
    <p:embeddedFont>
      <p:font typeface="Inter" charset="1" panose="020B0502030000000004"/>
      <p:regular r:id="rId19"/>
    </p:embeddedFont>
    <p:embeddedFont>
      <p:font typeface="Josefin Sans Bold" charset="1" panose="00000800000000000000"/>
      <p:regular r:id="rId20"/>
    </p:embeddedFont>
    <p:embeddedFont>
      <p:font typeface="Inter Bold" charset="1" panose="020B0802030000000004"/>
      <p:regular r:id="rId21"/>
    </p:embeddedFont>
    <p:embeddedFont>
      <p:font typeface="Inter Medium" charset="1" panose="02000503000000020004"/>
      <p:regular r:id="rId22"/>
    </p:embeddedFont>
    <p:embeddedFont>
      <p:font typeface="Black Mango Semi-Bold" charset="1" panose="02020A03060303060403"/>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 Id="rId3" Target="../media/image19.pn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3.jpeg" Type="http://schemas.openxmlformats.org/officeDocument/2006/relationships/image"/><Relationship Id="rId3" Target="../media/VAHYeAsFiDc.mp4" Type="http://schemas.openxmlformats.org/officeDocument/2006/relationships/video"/><Relationship Id="rId4" Target="../media/VAHYeAsFiDc.mp4" Type="http://schemas.microsoft.com/office/2007/relationships/media"/></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1369370">
            <a:off x="12920391" y="4146330"/>
            <a:ext cx="3317279" cy="2889049"/>
          </a:xfrm>
          <a:custGeom>
            <a:avLst/>
            <a:gdLst/>
            <a:ahLst/>
            <a:cxnLst/>
            <a:rect r="r" b="b" t="t" l="l"/>
            <a:pathLst>
              <a:path h="2889049" w="3317279">
                <a:moveTo>
                  <a:pt x="0" y="0"/>
                </a:moveTo>
                <a:lnTo>
                  <a:pt x="3317279" y="0"/>
                </a:lnTo>
                <a:lnTo>
                  <a:pt x="3317279" y="2889049"/>
                </a:lnTo>
                <a:lnTo>
                  <a:pt x="0" y="28890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377286">
            <a:off x="14689639" y="7451008"/>
            <a:ext cx="2255307" cy="1025139"/>
          </a:xfrm>
          <a:custGeom>
            <a:avLst/>
            <a:gdLst/>
            <a:ahLst/>
            <a:cxnLst/>
            <a:rect r="r" b="b" t="t" l="l"/>
            <a:pathLst>
              <a:path h="1025139" w="2255307">
                <a:moveTo>
                  <a:pt x="0" y="0"/>
                </a:moveTo>
                <a:lnTo>
                  <a:pt x="2255307" y="0"/>
                </a:lnTo>
                <a:lnTo>
                  <a:pt x="2255307" y="1025139"/>
                </a:lnTo>
                <a:lnTo>
                  <a:pt x="0" y="102513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18336" y="327100"/>
            <a:ext cx="4002088" cy="3660092"/>
          </a:xfrm>
          <a:custGeom>
            <a:avLst/>
            <a:gdLst/>
            <a:ahLst/>
            <a:cxnLst/>
            <a:rect r="r" b="b" t="t" l="l"/>
            <a:pathLst>
              <a:path h="3660092" w="4002088">
                <a:moveTo>
                  <a:pt x="0" y="0"/>
                </a:moveTo>
                <a:lnTo>
                  <a:pt x="4002088" y="0"/>
                </a:lnTo>
                <a:lnTo>
                  <a:pt x="4002088" y="3660091"/>
                </a:lnTo>
                <a:lnTo>
                  <a:pt x="0" y="36600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592491">
            <a:off x="16595406" y="1363703"/>
            <a:ext cx="2347714" cy="3596777"/>
          </a:xfrm>
          <a:custGeom>
            <a:avLst/>
            <a:gdLst/>
            <a:ahLst/>
            <a:cxnLst/>
            <a:rect r="r" b="b" t="t" l="l"/>
            <a:pathLst>
              <a:path h="3596777" w="2347714">
                <a:moveTo>
                  <a:pt x="0" y="0"/>
                </a:moveTo>
                <a:lnTo>
                  <a:pt x="2347714" y="0"/>
                </a:lnTo>
                <a:lnTo>
                  <a:pt x="2347714" y="3596776"/>
                </a:lnTo>
                <a:lnTo>
                  <a:pt x="0" y="359677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4976764" y="-2082955"/>
            <a:ext cx="3573211" cy="3397799"/>
          </a:xfrm>
          <a:custGeom>
            <a:avLst/>
            <a:gdLst/>
            <a:ahLst/>
            <a:cxnLst/>
            <a:rect r="r" b="b" t="t" l="l"/>
            <a:pathLst>
              <a:path h="3397799" w="3573211">
                <a:moveTo>
                  <a:pt x="0" y="0"/>
                </a:moveTo>
                <a:lnTo>
                  <a:pt x="3573211" y="0"/>
                </a:lnTo>
                <a:lnTo>
                  <a:pt x="3573211" y="3397799"/>
                </a:lnTo>
                <a:lnTo>
                  <a:pt x="0" y="339779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7139161" y="7565643"/>
            <a:ext cx="2297677" cy="3030510"/>
          </a:xfrm>
          <a:custGeom>
            <a:avLst/>
            <a:gdLst/>
            <a:ahLst/>
            <a:cxnLst/>
            <a:rect r="r" b="b" t="t" l="l"/>
            <a:pathLst>
              <a:path h="3030510" w="2297677">
                <a:moveTo>
                  <a:pt x="0" y="0"/>
                </a:moveTo>
                <a:lnTo>
                  <a:pt x="2297678" y="0"/>
                </a:lnTo>
                <a:lnTo>
                  <a:pt x="2297678" y="3030510"/>
                </a:lnTo>
                <a:lnTo>
                  <a:pt x="0" y="303051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6473539">
            <a:off x="16758040" y="4665438"/>
            <a:ext cx="2616063" cy="3141561"/>
          </a:xfrm>
          <a:custGeom>
            <a:avLst/>
            <a:gdLst/>
            <a:ahLst/>
            <a:cxnLst/>
            <a:rect r="r" b="b" t="t" l="l"/>
            <a:pathLst>
              <a:path h="3141561" w="2616063">
                <a:moveTo>
                  <a:pt x="0" y="0"/>
                </a:moveTo>
                <a:lnTo>
                  <a:pt x="2616063" y="0"/>
                </a:lnTo>
                <a:lnTo>
                  <a:pt x="2616063" y="3141561"/>
                </a:lnTo>
                <a:lnTo>
                  <a:pt x="0" y="314156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12832652" y="8132374"/>
            <a:ext cx="4288223" cy="2463779"/>
          </a:xfrm>
          <a:custGeom>
            <a:avLst/>
            <a:gdLst/>
            <a:ahLst/>
            <a:cxnLst/>
            <a:rect r="r" b="b" t="t" l="l"/>
            <a:pathLst>
              <a:path h="2463779" w="4288223">
                <a:moveTo>
                  <a:pt x="0" y="0"/>
                </a:moveTo>
                <a:lnTo>
                  <a:pt x="4288223" y="0"/>
                </a:lnTo>
                <a:lnTo>
                  <a:pt x="4288223" y="2463779"/>
                </a:lnTo>
                <a:lnTo>
                  <a:pt x="0" y="246377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0" id="10"/>
          <p:cNvSpPr txBox="true"/>
          <p:nvPr/>
        </p:nvSpPr>
        <p:spPr>
          <a:xfrm rot="0">
            <a:off x="1649924" y="3119412"/>
            <a:ext cx="8615861" cy="1878684"/>
          </a:xfrm>
          <a:prstGeom prst="rect">
            <a:avLst/>
          </a:prstGeom>
        </p:spPr>
        <p:txBody>
          <a:bodyPr anchor="t" rtlCol="false" tIns="0" lIns="0" bIns="0" rIns="0">
            <a:spAutoFit/>
          </a:bodyPr>
          <a:lstStyle/>
          <a:p>
            <a:pPr algn="l">
              <a:lnSpc>
                <a:spcPts val="13470"/>
              </a:lnSpc>
            </a:pPr>
            <a:r>
              <a:rPr lang="en-US" sz="16036" spc="-817" b="true">
                <a:solidFill>
                  <a:srgbClr val="222222"/>
                </a:solidFill>
                <a:latin typeface="Black Mango Bold"/>
                <a:ea typeface="Black Mango Bold"/>
                <a:cs typeface="Black Mango Bold"/>
                <a:sym typeface="Black Mango Bold"/>
              </a:rPr>
              <a:t>PillUp</a:t>
            </a:r>
          </a:p>
        </p:txBody>
      </p:sp>
      <p:grpSp>
        <p:nvGrpSpPr>
          <p:cNvPr name="Group 11" id="11"/>
          <p:cNvGrpSpPr/>
          <p:nvPr/>
        </p:nvGrpSpPr>
        <p:grpSpPr>
          <a:xfrm rot="0">
            <a:off x="1028700" y="4946682"/>
            <a:ext cx="7469878" cy="850466"/>
            <a:chOff x="0" y="0"/>
            <a:chExt cx="1967375" cy="223991"/>
          </a:xfrm>
        </p:grpSpPr>
        <p:sp>
          <p:nvSpPr>
            <p:cNvPr name="Freeform 12" id="12"/>
            <p:cNvSpPr/>
            <p:nvPr/>
          </p:nvSpPr>
          <p:spPr>
            <a:xfrm flipH="false" flipV="false" rot="0">
              <a:off x="0" y="0"/>
              <a:ext cx="1967375" cy="223991"/>
            </a:xfrm>
            <a:custGeom>
              <a:avLst/>
              <a:gdLst/>
              <a:ahLst/>
              <a:cxnLst/>
              <a:rect r="r" b="b" t="t" l="l"/>
              <a:pathLst>
                <a:path h="223991" w="1967375">
                  <a:moveTo>
                    <a:pt x="52857" y="0"/>
                  </a:moveTo>
                  <a:lnTo>
                    <a:pt x="1914518" y="0"/>
                  </a:lnTo>
                  <a:cubicBezTo>
                    <a:pt x="1943710" y="0"/>
                    <a:pt x="1967375" y="23665"/>
                    <a:pt x="1967375" y="52857"/>
                  </a:cubicBezTo>
                  <a:lnTo>
                    <a:pt x="1967375" y="171134"/>
                  </a:lnTo>
                  <a:cubicBezTo>
                    <a:pt x="1967375" y="200326"/>
                    <a:pt x="1943710" y="223991"/>
                    <a:pt x="1914518" y="223991"/>
                  </a:cubicBezTo>
                  <a:lnTo>
                    <a:pt x="52857" y="223991"/>
                  </a:lnTo>
                  <a:cubicBezTo>
                    <a:pt x="23665" y="223991"/>
                    <a:pt x="0" y="200326"/>
                    <a:pt x="0" y="171134"/>
                  </a:cubicBezTo>
                  <a:lnTo>
                    <a:pt x="0" y="52857"/>
                  </a:lnTo>
                  <a:cubicBezTo>
                    <a:pt x="0" y="23665"/>
                    <a:pt x="23665" y="0"/>
                    <a:pt x="52857" y="0"/>
                  </a:cubicBezTo>
                  <a:close/>
                </a:path>
              </a:pathLst>
            </a:custGeom>
            <a:solidFill>
              <a:srgbClr val="B6E0D4"/>
            </a:solidFill>
          </p:spPr>
        </p:sp>
        <p:sp>
          <p:nvSpPr>
            <p:cNvPr name="TextBox 13" id="13"/>
            <p:cNvSpPr txBox="true"/>
            <p:nvPr/>
          </p:nvSpPr>
          <p:spPr>
            <a:xfrm>
              <a:off x="0" y="-47625"/>
              <a:ext cx="1967375" cy="271616"/>
            </a:xfrm>
            <a:prstGeom prst="rect">
              <a:avLst/>
            </a:prstGeom>
          </p:spPr>
          <p:txBody>
            <a:bodyPr anchor="ctr" rtlCol="false" tIns="50800" lIns="50800" bIns="50800" rIns="50800"/>
            <a:lstStyle/>
            <a:p>
              <a:pPr algn="ctr">
                <a:lnSpc>
                  <a:spcPts val="3219"/>
                </a:lnSpc>
                <a:spcBef>
                  <a:spcPct val="0"/>
                </a:spcBef>
              </a:pPr>
            </a:p>
          </p:txBody>
        </p:sp>
      </p:grpSp>
      <p:sp>
        <p:nvSpPr>
          <p:cNvPr name="TextBox 14" id="14"/>
          <p:cNvSpPr txBox="true"/>
          <p:nvPr/>
        </p:nvSpPr>
        <p:spPr>
          <a:xfrm rot="0">
            <a:off x="1434224" y="4920040"/>
            <a:ext cx="6609134" cy="891133"/>
          </a:xfrm>
          <a:prstGeom prst="rect">
            <a:avLst/>
          </a:prstGeom>
        </p:spPr>
        <p:txBody>
          <a:bodyPr anchor="t" rtlCol="false" tIns="0" lIns="0" bIns="0" rIns="0">
            <a:spAutoFit/>
          </a:bodyPr>
          <a:lstStyle/>
          <a:p>
            <a:pPr algn="ctr">
              <a:lnSpc>
                <a:spcPts val="7331"/>
              </a:lnSpc>
            </a:pPr>
            <a:r>
              <a:rPr lang="en-US" sz="5236">
                <a:solidFill>
                  <a:srgbClr val="222222"/>
                </a:solidFill>
                <a:latin typeface="Josefin Sans"/>
                <a:ea typeface="Josefin Sans"/>
                <a:cs typeface="Josefin Sans"/>
                <a:sym typeface="Josefin Sans"/>
              </a:rPr>
              <a:t>Pastillero Inteligente</a:t>
            </a:r>
          </a:p>
        </p:txBody>
      </p:sp>
      <p:sp>
        <p:nvSpPr>
          <p:cNvPr name="TextBox 15" id="15"/>
          <p:cNvSpPr txBox="true"/>
          <p:nvPr/>
        </p:nvSpPr>
        <p:spPr>
          <a:xfrm rot="0">
            <a:off x="848020" y="8704680"/>
            <a:ext cx="13075598" cy="1280654"/>
          </a:xfrm>
          <a:prstGeom prst="rect">
            <a:avLst/>
          </a:prstGeom>
        </p:spPr>
        <p:txBody>
          <a:bodyPr anchor="t" rtlCol="false" tIns="0" lIns="0" bIns="0" rIns="0">
            <a:spAutoFit/>
          </a:bodyPr>
          <a:lstStyle/>
          <a:p>
            <a:pPr algn="l">
              <a:lnSpc>
                <a:spcPts val="3437"/>
              </a:lnSpc>
            </a:pPr>
            <a:r>
              <a:rPr lang="en-US" sz="2455" spc="147">
                <a:solidFill>
                  <a:srgbClr val="222222"/>
                </a:solidFill>
                <a:latin typeface="Josefin Sans"/>
                <a:ea typeface="Josefin Sans"/>
                <a:cs typeface="Josefin Sans"/>
                <a:sym typeface="Josefin Sans"/>
              </a:rPr>
              <a:t>Taller de Diseño de Ingeniería sec.4 | profesor: Benjamín Gutiérrez</a:t>
            </a:r>
          </a:p>
          <a:p>
            <a:pPr algn="l">
              <a:lnSpc>
                <a:spcPts val="3437"/>
              </a:lnSpc>
            </a:pPr>
            <a:r>
              <a:rPr lang="en-US" sz="2455" spc="147">
                <a:solidFill>
                  <a:srgbClr val="222222"/>
                </a:solidFill>
                <a:latin typeface="Josefin Sans"/>
                <a:ea typeface="Josefin Sans"/>
                <a:cs typeface="Josefin Sans"/>
                <a:sym typeface="Josefin Sans"/>
              </a:rPr>
              <a:t>Greta Ferrer, Carolina Gallardo, Martina Penschke, Estela Pérez </a:t>
            </a:r>
          </a:p>
          <a:p>
            <a:pPr algn="l">
              <a:lnSpc>
                <a:spcPts val="3437"/>
              </a:lnSpc>
            </a:pPr>
          </a:p>
        </p:txBody>
      </p:sp>
      <p:sp>
        <p:nvSpPr>
          <p:cNvPr name="TextBox 16" id="16"/>
          <p:cNvSpPr txBox="true"/>
          <p:nvPr/>
        </p:nvSpPr>
        <p:spPr>
          <a:xfrm rot="0">
            <a:off x="1206647" y="5871245"/>
            <a:ext cx="11411689" cy="635614"/>
          </a:xfrm>
          <a:prstGeom prst="rect">
            <a:avLst/>
          </a:prstGeom>
        </p:spPr>
        <p:txBody>
          <a:bodyPr anchor="t" rtlCol="false" tIns="0" lIns="0" bIns="0" rIns="0">
            <a:spAutoFit/>
          </a:bodyPr>
          <a:lstStyle/>
          <a:p>
            <a:pPr algn="ctr">
              <a:lnSpc>
                <a:spcPts val="5231"/>
              </a:lnSpc>
            </a:pPr>
            <a:r>
              <a:rPr lang="en-US" sz="3736">
                <a:solidFill>
                  <a:srgbClr val="222222"/>
                </a:solidFill>
                <a:latin typeface="Josefin Sans"/>
                <a:ea typeface="Josefin Sans"/>
                <a:cs typeface="Josefin Sans"/>
                <a:sym typeface="Josefin Sans"/>
              </a:rPr>
              <a:t>Una alerta que te activa y recuerda tu medicamento.</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B6E0D4"/>
        </a:solidFill>
      </p:bgPr>
    </p:bg>
    <p:spTree>
      <p:nvGrpSpPr>
        <p:cNvPr id="1" name=""/>
        <p:cNvGrpSpPr/>
        <p:nvPr/>
      </p:nvGrpSpPr>
      <p:grpSpPr>
        <a:xfrm>
          <a:off x="0" y="0"/>
          <a:ext cx="0" cy="0"/>
          <a:chOff x="0" y="0"/>
          <a:chExt cx="0" cy="0"/>
        </a:xfrm>
      </p:grpSpPr>
      <p:grpSp>
        <p:nvGrpSpPr>
          <p:cNvPr name="Group 2" id="2"/>
          <p:cNvGrpSpPr/>
          <p:nvPr/>
        </p:nvGrpSpPr>
        <p:grpSpPr>
          <a:xfrm rot="0">
            <a:off x="12915441" y="-421546"/>
            <a:ext cx="6468106" cy="11130092"/>
            <a:chOff x="0" y="0"/>
            <a:chExt cx="472348" cy="812800"/>
          </a:xfrm>
        </p:grpSpPr>
        <p:sp>
          <p:nvSpPr>
            <p:cNvPr name="Freeform 3" id="3"/>
            <p:cNvSpPr/>
            <p:nvPr/>
          </p:nvSpPr>
          <p:spPr>
            <a:xfrm flipH="false" flipV="false" rot="0">
              <a:off x="0" y="0"/>
              <a:ext cx="472348" cy="812800"/>
            </a:xfrm>
            <a:custGeom>
              <a:avLst/>
              <a:gdLst/>
              <a:ahLst/>
              <a:cxnLst/>
              <a:rect r="r" b="b" t="t" l="l"/>
              <a:pathLst>
                <a:path h="812800" w="472348">
                  <a:moveTo>
                    <a:pt x="0" y="0"/>
                  </a:moveTo>
                  <a:lnTo>
                    <a:pt x="472348" y="0"/>
                  </a:lnTo>
                  <a:lnTo>
                    <a:pt x="472348" y="812800"/>
                  </a:lnTo>
                  <a:lnTo>
                    <a:pt x="0" y="812800"/>
                  </a:lnTo>
                  <a:close/>
                </a:path>
              </a:pathLst>
            </a:custGeom>
            <a:blipFill>
              <a:blip r:embed="rId2"/>
              <a:stretch>
                <a:fillRect l="-108762" t="0" r="-49513" b="0"/>
              </a:stretch>
            </a:blipFill>
          </p:spPr>
        </p:sp>
      </p:grpSp>
      <p:sp>
        <p:nvSpPr>
          <p:cNvPr name="TextBox 4" id="4"/>
          <p:cNvSpPr txBox="true"/>
          <p:nvPr/>
        </p:nvSpPr>
        <p:spPr>
          <a:xfrm rot="0">
            <a:off x="1818571" y="1114425"/>
            <a:ext cx="9812892" cy="1894046"/>
          </a:xfrm>
          <a:prstGeom prst="rect">
            <a:avLst/>
          </a:prstGeom>
        </p:spPr>
        <p:txBody>
          <a:bodyPr anchor="t" rtlCol="false" tIns="0" lIns="0" bIns="0" rIns="0">
            <a:spAutoFit/>
          </a:bodyPr>
          <a:lstStyle/>
          <a:p>
            <a:pPr algn="l">
              <a:lnSpc>
                <a:spcPts val="7420"/>
              </a:lnSpc>
            </a:pPr>
            <a:r>
              <a:rPr lang="en-US" sz="7000" b="true">
                <a:solidFill>
                  <a:srgbClr val="222222"/>
                </a:solidFill>
                <a:latin typeface="Black Mango Bold"/>
                <a:ea typeface="Black Mango Bold"/>
                <a:cs typeface="Black Mango Bold"/>
                <a:sym typeface="Black Mango Bold"/>
              </a:rPr>
              <a:t>Problema que queremos abordar  </a:t>
            </a:r>
          </a:p>
        </p:txBody>
      </p:sp>
      <p:grpSp>
        <p:nvGrpSpPr>
          <p:cNvPr name="Group 5" id="5"/>
          <p:cNvGrpSpPr/>
          <p:nvPr/>
        </p:nvGrpSpPr>
        <p:grpSpPr>
          <a:xfrm rot="0">
            <a:off x="1028700" y="3560260"/>
            <a:ext cx="3071764" cy="850466"/>
            <a:chOff x="0" y="0"/>
            <a:chExt cx="809024" cy="223991"/>
          </a:xfrm>
        </p:grpSpPr>
        <p:sp>
          <p:nvSpPr>
            <p:cNvPr name="Freeform 6" id="6"/>
            <p:cNvSpPr/>
            <p:nvPr/>
          </p:nvSpPr>
          <p:spPr>
            <a:xfrm flipH="false" flipV="false" rot="0">
              <a:off x="0" y="0"/>
              <a:ext cx="809024" cy="223991"/>
            </a:xfrm>
            <a:custGeom>
              <a:avLst/>
              <a:gdLst/>
              <a:ahLst/>
              <a:cxnLst/>
              <a:rect r="r" b="b" t="t" l="l"/>
              <a:pathLst>
                <a:path h="223991" w="809024">
                  <a:moveTo>
                    <a:pt x="111996" y="0"/>
                  </a:moveTo>
                  <a:lnTo>
                    <a:pt x="697029" y="0"/>
                  </a:lnTo>
                  <a:cubicBezTo>
                    <a:pt x="726732" y="0"/>
                    <a:pt x="755218" y="11799"/>
                    <a:pt x="776222" y="32803"/>
                  </a:cubicBezTo>
                  <a:cubicBezTo>
                    <a:pt x="797225" y="53806"/>
                    <a:pt x="809024" y="82292"/>
                    <a:pt x="809024" y="111996"/>
                  </a:cubicBezTo>
                  <a:lnTo>
                    <a:pt x="809024" y="111996"/>
                  </a:lnTo>
                  <a:cubicBezTo>
                    <a:pt x="809024" y="141699"/>
                    <a:pt x="797225" y="170185"/>
                    <a:pt x="776222" y="191188"/>
                  </a:cubicBezTo>
                  <a:cubicBezTo>
                    <a:pt x="755218" y="212192"/>
                    <a:pt x="726732" y="223991"/>
                    <a:pt x="697029" y="223991"/>
                  </a:cubicBezTo>
                  <a:lnTo>
                    <a:pt x="111996" y="223991"/>
                  </a:lnTo>
                  <a:cubicBezTo>
                    <a:pt x="82292" y="223991"/>
                    <a:pt x="53806" y="212192"/>
                    <a:pt x="32803" y="191188"/>
                  </a:cubicBezTo>
                  <a:cubicBezTo>
                    <a:pt x="11799" y="170185"/>
                    <a:pt x="0" y="141699"/>
                    <a:pt x="0" y="111996"/>
                  </a:cubicBezTo>
                  <a:lnTo>
                    <a:pt x="0" y="111996"/>
                  </a:lnTo>
                  <a:cubicBezTo>
                    <a:pt x="0" y="82292"/>
                    <a:pt x="11799" y="53806"/>
                    <a:pt x="32803" y="32803"/>
                  </a:cubicBezTo>
                  <a:cubicBezTo>
                    <a:pt x="53806" y="11799"/>
                    <a:pt x="82292" y="0"/>
                    <a:pt x="111996" y="0"/>
                  </a:cubicBezTo>
                  <a:close/>
                </a:path>
              </a:pathLst>
            </a:custGeom>
            <a:solidFill>
              <a:srgbClr val="F4F4F4"/>
            </a:solidFill>
          </p:spPr>
        </p:sp>
        <p:sp>
          <p:nvSpPr>
            <p:cNvPr name="TextBox 7" id="7"/>
            <p:cNvSpPr txBox="true"/>
            <p:nvPr/>
          </p:nvSpPr>
          <p:spPr>
            <a:xfrm>
              <a:off x="0" y="-57150"/>
              <a:ext cx="809024" cy="281141"/>
            </a:xfrm>
            <a:prstGeom prst="rect">
              <a:avLst/>
            </a:prstGeom>
          </p:spPr>
          <p:txBody>
            <a:bodyPr anchor="ctr" rtlCol="false" tIns="50800" lIns="50800" bIns="50800" rIns="50800"/>
            <a:lstStyle/>
            <a:p>
              <a:pPr algn="ctr">
                <a:lnSpc>
                  <a:spcPts val="3219"/>
                </a:lnSpc>
                <a:spcBef>
                  <a:spcPct val="0"/>
                </a:spcBef>
              </a:pPr>
            </a:p>
          </p:txBody>
        </p:sp>
      </p:grpSp>
      <p:sp>
        <p:nvSpPr>
          <p:cNvPr name="TextBox 8" id="8"/>
          <p:cNvSpPr txBox="true"/>
          <p:nvPr/>
        </p:nvSpPr>
        <p:spPr>
          <a:xfrm rot="0">
            <a:off x="1028700" y="4571530"/>
            <a:ext cx="11392635" cy="896874"/>
          </a:xfrm>
          <a:prstGeom prst="rect">
            <a:avLst/>
          </a:prstGeom>
        </p:spPr>
        <p:txBody>
          <a:bodyPr anchor="t" rtlCol="false" tIns="0" lIns="0" bIns="0" rIns="0">
            <a:spAutoFit/>
          </a:bodyPr>
          <a:lstStyle/>
          <a:p>
            <a:pPr algn="l">
              <a:lnSpc>
                <a:spcPts val="3498"/>
              </a:lnSpc>
              <a:spcBef>
                <a:spcPct val="0"/>
              </a:spcBef>
            </a:pPr>
            <a:r>
              <a:rPr lang="en-US" sz="3300">
                <a:solidFill>
                  <a:srgbClr val="222222"/>
                </a:solidFill>
                <a:latin typeface="Josefin Sans"/>
                <a:ea typeface="Josefin Sans"/>
                <a:cs typeface="Josefin Sans"/>
                <a:sym typeface="Josefin Sans"/>
              </a:rPr>
              <a:t>Reducir o</a:t>
            </a:r>
            <a:r>
              <a:rPr lang="en-US" sz="3300">
                <a:solidFill>
                  <a:srgbClr val="222222"/>
                </a:solidFill>
                <a:latin typeface="Josefin Sans"/>
                <a:ea typeface="Josefin Sans"/>
                <a:cs typeface="Josefin Sans"/>
                <a:sym typeface="Josefin Sans"/>
              </a:rPr>
              <a:t>lvidos y facilitar el seguimiento diario de los horarios de medicación.</a:t>
            </a:r>
          </a:p>
        </p:txBody>
      </p:sp>
      <p:grpSp>
        <p:nvGrpSpPr>
          <p:cNvPr name="Group 9" id="9"/>
          <p:cNvGrpSpPr/>
          <p:nvPr/>
        </p:nvGrpSpPr>
        <p:grpSpPr>
          <a:xfrm rot="0">
            <a:off x="1028700" y="5600633"/>
            <a:ext cx="4470681" cy="850466"/>
            <a:chOff x="0" y="0"/>
            <a:chExt cx="1177463" cy="223991"/>
          </a:xfrm>
        </p:grpSpPr>
        <p:sp>
          <p:nvSpPr>
            <p:cNvPr name="Freeform 10" id="10"/>
            <p:cNvSpPr/>
            <p:nvPr/>
          </p:nvSpPr>
          <p:spPr>
            <a:xfrm flipH="false" flipV="false" rot="0">
              <a:off x="0" y="0"/>
              <a:ext cx="1177463" cy="223991"/>
            </a:xfrm>
            <a:custGeom>
              <a:avLst/>
              <a:gdLst/>
              <a:ahLst/>
              <a:cxnLst/>
              <a:rect r="r" b="b" t="t" l="l"/>
              <a:pathLst>
                <a:path h="223991" w="1177463">
                  <a:moveTo>
                    <a:pt x="88317" y="0"/>
                  </a:moveTo>
                  <a:lnTo>
                    <a:pt x="1089146" y="0"/>
                  </a:lnTo>
                  <a:cubicBezTo>
                    <a:pt x="1112569" y="0"/>
                    <a:pt x="1135033" y="9305"/>
                    <a:pt x="1151596" y="25868"/>
                  </a:cubicBezTo>
                  <a:cubicBezTo>
                    <a:pt x="1168158" y="42430"/>
                    <a:pt x="1177463" y="64894"/>
                    <a:pt x="1177463" y="88317"/>
                  </a:cubicBezTo>
                  <a:lnTo>
                    <a:pt x="1177463" y="135674"/>
                  </a:lnTo>
                  <a:cubicBezTo>
                    <a:pt x="1177463" y="184450"/>
                    <a:pt x="1137922" y="223991"/>
                    <a:pt x="1089146" y="223991"/>
                  </a:cubicBezTo>
                  <a:lnTo>
                    <a:pt x="88317" y="223991"/>
                  </a:lnTo>
                  <a:cubicBezTo>
                    <a:pt x="39541" y="223991"/>
                    <a:pt x="0" y="184450"/>
                    <a:pt x="0" y="135674"/>
                  </a:cubicBezTo>
                  <a:lnTo>
                    <a:pt x="0" y="88317"/>
                  </a:lnTo>
                  <a:cubicBezTo>
                    <a:pt x="0" y="39541"/>
                    <a:pt x="39541" y="0"/>
                    <a:pt x="88317" y="0"/>
                  </a:cubicBezTo>
                  <a:close/>
                </a:path>
              </a:pathLst>
            </a:custGeom>
            <a:solidFill>
              <a:srgbClr val="F4F4F4"/>
            </a:solidFill>
          </p:spPr>
        </p:sp>
        <p:sp>
          <p:nvSpPr>
            <p:cNvPr name="TextBox 11" id="11"/>
            <p:cNvSpPr txBox="true"/>
            <p:nvPr/>
          </p:nvSpPr>
          <p:spPr>
            <a:xfrm>
              <a:off x="0" y="-76200"/>
              <a:ext cx="1177463" cy="300191"/>
            </a:xfrm>
            <a:prstGeom prst="rect">
              <a:avLst/>
            </a:prstGeom>
          </p:spPr>
          <p:txBody>
            <a:bodyPr anchor="ctr" rtlCol="false" tIns="50800" lIns="50800" bIns="50800" rIns="50800"/>
            <a:lstStyle/>
            <a:p>
              <a:pPr algn="ctr">
                <a:lnSpc>
                  <a:spcPts val="3919"/>
                </a:lnSpc>
                <a:spcBef>
                  <a:spcPct val="0"/>
                </a:spcBef>
              </a:pPr>
            </a:p>
          </p:txBody>
        </p:sp>
      </p:grpSp>
      <p:sp>
        <p:nvSpPr>
          <p:cNvPr name="TextBox 12" id="12"/>
          <p:cNvSpPr txBox="true"/>
          <p:nvPr/>
        </p:nvSpPr>
        <p:spPr>
          <a:xfrm rot="0">
            <a:off x="1028700" y="6729254"/>
            <a:ext cx="11392635" cy="881965"/>
          </a:xfrm>
          <a:prstGeom prst="rect">
            <a:avLst/>
          </a:prstGeom>
        </p:spPr>
        <p:txBody>
          <a:bodyPr anchor="t" rtlCol="false" tIns="0" lIns="0" bIns="0" rIns="0">
            <a:spAutoFit/>
          </a:bodyPr>
          <a:lstStyle/>
          <a:p>
            <a:pPr algn="l">
              <a:lnSpc>
                <a:spcPts val="3498"/>
              </a:lnSpc>
              <a:spcBef>
                <a:spcPct val="0"/>
              </a:spcBef>
            </a:pPr>
            <a:r>
              <a:rPr lang="en-US" sz="3300">
                <a:solidFill>
                  <a:srgbClr val="222222"/>
                </a:solidFill>
                <a:latin typeface="Josefin Sans"/>
                <a:ea typeface="Josefin Sans"/>
                <a:cs typeface="Josefin Sans"/>
                <a:sym typeface="Josefin Sans"/>
              </a:rPr>
              <a:t>Pastillero de 8 compartimientos que incorpora recordatorios y una señal verificable para el usuario.</a:t>
            </a:r>
          </a:p>
        </p:txBody>
      </p:sp>
      <p:sp>
        <p:nvSpPr>
          <p:cNvPr name="TextBox 13" id="13"/>
          <p:cNvSpPr txBox="true"/>
          <p:nvPr/>
        </p:nvSpPr>
        <p:spPr>
          <a:xfrm rot="0">
            <a:off x="1268880" y="3798141"/>
            <a:ext cx="2591405" cy="451269"/>
          </a:xfrm>
          <a:prstGeom prst="rect">
            <a:avLst/>
          </a:prstGeom>
        </p:spPr>
        <p:txBody>
          <a:bodyPr anchor="t" rtlCol="false" tIns="0" lIns="0" bIns="0" rIns="0">
            <a:spAutoFit/>
          </a:bodyPr>
          <a:lstStyle/>
          <a:p>
            <a:pPr algn="ctr">
              <a:lnSpc>
                <a:spcPts val="3497"/>
              </a:lnSpc>
              <a:spcBef>
                <a:spcPct val="0"/>
              </a:spcBef>
            </a:pPr>
            <a:r>
              <a:rPr lang="en-US" sz="3299">
                <a:solidFill>
                  <a:srgbClr val="222222"/>
                </a:solidFill>
                <a:latin typeface="Josefin Sans"/>
                <a:ea typeface="Josefin Sans"/>
                <a:cs typeface="Josefin Sans"/>
                <a:sym typeface="Josefin Sans"/>
              </a:rPr>
              <a:t>NECESIDAD</a:t>
            </a:r>
          </a:p>
        </p:txBody>
      </p:sp>
      <p:sp>
        <p:nvSpPr>
          <p:cNvPr name="TextBox 14" id="14"/>
          <p:cNvSpPr txBox="true"/>
          <p:nvPr/>
        </p:nvSpPr>
        <p:spPr>
          <a:xfrm rot="0">
            <a:off x="1319389" y="5819282"/>
            <a:ext cx="3889302" cy="451269"/>
          </a:xfrm>
          <a:prstGeom prst="rect">
            <a:avLst/>
          </a:prstGeom>
        </p:spPr>
        <p:txBody>
          <a:bodyPr anchor="t" rtlCol="false" tIns="0" lIns="0" bIns="0" rIns="0">
            <a:spAutoFit/>
          </a:bodyPr>
          <a:lstStyle/>
          <a:p>
            <a:pPr algn="ctr">
              <a:lnSpc>
                <a:spcPts val="3497"/>
              </a:lnSpc>
              <a:spcBef>
                <a:spcPct val="0"/>
              </a:spcBef>
            </a:pPr>
            <a:r>
              <a:rPr lang="en-US" sz="3299">
                <a:solidFill>
                  <a:srgbClr val="222222"/>
                </a:solidFill>
                <a:latin typeface="Josefin Sans"/>
                <a:ea typeface="Josefin Sans"/>
                <a:cs typeface="Josefin Sans"/>
                <a:sym typeface="Josefin Sans"/>
              </a:rPr>
              <a:t>SOLUCIÓN PILLUP</a:t>
            </a:r>
          </a:p>
        </p:txBody>
      </p:sp>
      <p:grpSp>
        <p:nvGrpSpPr>
          <p:cNvPr name="Group 15" id="15"/>
          <p:cNvGrpSpPr/>
          <p:nvPr/>
        </p:nvGrpSpPr>
        <p:grpSpPr>
          <a:xfrm rot="0">
            <a:off x="1028700" y="7851274"/>
            <a:ext cx="1809327" cy="850466"/>
            <a:chOff x="0" y="0"/>
            <a:chExt cx="476531" cy="223991"/>
          </a:xfrm>
        </p:grpSpPr>
        <p:sp>
          <p:nvSpPr>
            <p:cNvPr name="Freeform 16" id="16"/>
            <p:cNvSpPr/>
            <p:nvPr/>
          </p:nvSpPr>
          <p:spPr>
            <a:xfrm flipH="false" flipV="false" rot="0">
              <a:off x="0" y="0"/>
              <a:ext cx="476531" cy="223991"/>
            </a:xfrm>
            <a:custGeom>
              <a:avLst/>
              <a:gdLst/>
              <a:ahLst/>
              <a:cxnLst/>
              <a:rect r="r" b="b" t="t" l="l"/>
              <a:pathLst>
                <a:path h="223991" w="476531">
                  <a:moveTo>
                    <a:pt x="111996" y="0"/>
                  </a:moveTo>
                  <a:lnTo>
                    <a:pt x="364535" y="0"/>
                  </a:lnTo>
                  <a:cubicBezTo>
                    <a:pt x="394238" y="0"/>
                    <a:pt x="422725" y="11799"/>
                    <a:pt x="443728" y="32803"/>
                  </a:cubicBezTo>
                  <a:cubicBezTo>
                    <a:pt x="464731" y="53806"/>
                    <a:pt x="476531" y="82292"/>
                    <a:pt x="476531" y="111996"/>
                  </a:cubicBezTo>
                  <a:lnTo>
                    <a:pt x="476531" y="111996"/>
                  </a:lnTo>
                  <a:cubicBezTo>
                    <a:pt x="476531" y="141699"/>
                    <a:pt x="464731" y="170185"/>
                    <a:pt x="443728" y="191188"/>
                  </a:cubicBezTo>
                  <a:cubicBezTo>
                    <a:pt x="422725" y="212192"/>
                    <a:pt x="394238" y="223991"/>
                    <a:pt x="364535" y="223991"/>
                  </a:cubicBezTo>
                  <a:lnTo>
                    <a:pt x="111996" y="223991"/>
                  </a:lnTo>
                  <a:cubicBezTo>
                    <a:pt x="82292" y="223991"/>
                    <a:pt x="53806" y="212192"/>
                    <a:pt x="32803" y="191188"/>
                  </a:cubicBezTo>
                  <a:cubicBezTo>
                    <a:pt x="11799" y="170185"/>
                    <a:pt x="0" y="141699"/>
                    <a:pt x="0" y="111996"/>
                  </a:cubicBezTo>
                  <a:lnTo>
                    <a:pt x="0" y="111996"/>
                  </a:lnTo>
                  <a:cubicBezTo>
                    <a:pt x="0" y="82292"/>
                    <a:pt x="11799" y="53806"/>
                    <a:pt x="32803" y="32803"/>
                  </a:cubicBezTo>
                  <a:cubicBezTo>
                    <a:pt x="53806" y="11799"/>
                    <a:pt x="82292" y="0"/>
                    <a:pt x="111996" y="0"/>
                  </a:cubicBezTo>
                  <a:close/>
                </a:path>
              </a:pathLst>
            </a:custGeom>
            <a:solidFill>
              <a:srgbClr val="F4F4F4"/>
            </a:solidFill>
          </p:spPr>
        </p:sp>
        <p:sp>
          <p:nvSpPr>
            <p:cNvPr name="TextBox 17" id="17"/>
            <p:cNvSpPr txBox="true"/>
            <p:nvPr/>
          </p:nvSpPr>
          <p:spPr>
            <a:xfrm>
              <a:off x="0" y="-57150"/>
              <a:ext cx="476531" cy="281141"/>
            </a:xfrm>
            <a:prstGeom prst="rect">
              <a:avLst/>
            </a:prstGeom>
          </p:spPr>
          <p:txBody>
            <a:bodyPr anchor="ctr" rtlCol="false" tIns="50800" lIns="50800" bIns="50800" rIns="50800"/>
            <a:lstStyle/>
            <a:p>
              <a:pPr algn="ctr">
                <a:lnSpc>
                  <a:spcPts val="4199"/>
                </a:lnSpc>
                <a:spcBef>
                  <a:spcPct val="0"/>
                </a:spcBef>
              </a:pPr>
              <a:r>
                <a:rPr lang="en-US" b="true" sz="2999">
                  <a:solidFill>
                    <a:srgbClr val="000000"/>
                  </a:solidFill>
                  <a:latin typeface="Josefin Sans Semi-Bold"/>
                  <a:ea typeface="Josefin Sans Semi-Bold"/>
                  <a:cs typeface="Josefin Sans Semi-Bold"/>
                  <a:sym typeface="Josefin Sans Semi-Bold"/>
                </a:rPr>
                <a:t>ODS 3</a:t>
              </a:r>
            </a:p>
          </p:txBody>
        </p:sp>
      </p:grpSp>
      <p:sp>
        <p:nvSpPr>
          <p:cNvPr name="TextBox 18" id="18"/>
          <p:cNvSpPr txBox="true"/>
          <p:nvPr/>
        </p:nvSpPr>
        <p:spPr>
          <a:xfrm rot="0">
            <a:off x="1028700" y="8968440"/>
            <a:ext cx="11392635" cy="896874"/>
          </a:xfrm>
          <a:prstGeom prst="rect">
            <a:avLst/>
          </a:prstGeom>
        </p:spPr>
        <p:txBody>
          <a:bodyPr anchor="t" rtlCol="false" tIns="0" lIns="0" bIns="0" rIns="0">
            <a:spAutoFit/>
          </a:bodyPr>
          <a:lstStyle/>
          <a:p>
            <a:pPr algn="l">
              <a:lnSpc>
                <a:spcPts val="3498"/>
              </a:lnSpc>
              <a:spcBef>
                <a:spcPct val="0"/>
              </a:spcBef>
            </a:pPr>
            <a:r>
              <a:rPr lang="en-US" sz="3300">
                <a:solidFill>
                  <a:srgbClr val="222222"/>
                </a:solidFill>
                <a:latin typeface="Josefin Sans"/>
                <a:ea typeface="Josefin Sans"/>
                <a:cs typeface="Josefin Sans"/>
                <a:sym typeface="Josefin Sans"/>
              </a:rPr>
              <a:t>Contribución a Salud y Bienestar: apoyar el seguimiento de la medicación mediante recordatorios de toma.</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4F4F4"/>
        </a:solidFill>
      </p:bgPr>
    </p:bg>
    <p:spTree>
      <p:nvGrpSpPr>
        <p:cNvPr id="1" name=""/>
        <p:cNvGrpSpPr/>
        <p:nvPr/>
      </p:nvGrpSpPr>
      <p:grpSpPr>
        <a:xfrm>
          <a:off x="0" y="0"/>
          <a:ext cx="0" cy="0"/>
          <a:chOff x="0" y="0"/>
          <a:chExt cx="0" cy="0"/>
        </a:xfrm>
      </p:grpSpPr>
      <p:grpSp>
        <p:nvGrpSpPr>
          <p:cNvPr name="Group 2" id="2"/>
          <p:cNvGrpSpPr/>
          <p:nvPr/>
        </p:nvGrpSpPr>
        <p:grpSpPr>
          <a:xfrm rot="0">
            <a:off x="4834684" y="3785342"/>
            <a:ext cx="4214900" cy="3658468"/>
            <a:chOff x="0" y="0"/>
            <a:chExt cx="1471699" cy="1277412"/>
          </a:xfrm>
        </p:grpSpPr>
        <p:sp>
          <p:nvSpPr>
            <p:cNvPr name="Freeform 3" id="3"/>
            <p:cNvSpPr/>
            <p:nvPr/>
          </p:nvSpPr>
          <p:spPr>
            <a:xfrm flipH="false" flipV="false" rot="0">
              <a:off x="0" y="0"/>
              <a:ext cx="1471699" cy="1277412"/>
            </a:xfrm>
            <a:custGeom>
              <a:avLst/>
              <a:gdLst/>
              <a:ahLst/>
              <a:cxnLst/>
              <a:rect r="r" b="b" t="t" l="l"/>
              <a:pathLst>
                <a:path h="1277412" w="1471699">
                  <a:moveTo>
                    <a:pt x="93677" y="0"/>
                  </a:moveTo>
                  <a:lnTo>
                    <a:pt x="1378022" y="0"/>
                  </a:lnTo>
                  <a:cubicBezTo>
                    <a:pt x="1429758" y="0"/>
                    <a:pt x="1471699" y="41940"/>
                    <a:pt x="1471699" y="93677"/>
                  </a:cubicBezTo>
                  <a:lnTo>
                    <a:pt x="1471699" y="1183735"/>
                  </a:lnTo>
                  <a:cubicBezTo>
                    <a:pt x="1471699" y="1235471"/>
                    <a:pt x="1429758" y="1277412"/>
                    <a:pt x="1378022" y="1277412"/>
                  </a:cubicBezTo>
                  <a:lnTo>
                    <a:pt x="93677" y="1277412"/>
                  </a:lnTo>
                  <a:cubicBezTo>
                    <a:pt x="68832" y="1277412"/>
                    <a:pt x="45005" y="1267542"/>
                    <a:pt x="27437" y="1249975"/>
                  </a:cubicBezTo>
                  <a:cubicBezTo>
                    <a:pt x="9869" y="1232407"/>
                    <a:pt x="0" y="1208580"/>
                    <a:pt x="0" y="1183735"/>
                  </a:cubicBezTo>
                  <a:lnTo>
                    <a:pt x="0" y="93677"/>
                  </a:lnTo>
                  <a:cubicBezTo>
                    <a:pt x="0" y="41940"/>
                    <a:pt x="41940" y="0"/>
                    <a:pt x="93677" y="0"/>
                  </a:cubicBezTo>
                  <a:close/>
                </a:path>
              </a:pathLst>
            </a:custGeom>
            <a:solidFill>
              <a:srgbClr val="B6E0D4"/>
            </a:solidFill>
          </p:spPr>
        </p:sp>
        <p:sp>
          <p:nvSpPr>
            <p:cNvPr name="TextBox 4" id="4"/>
            <p:cNvSpPr txBox="true"/>
            <p:nvPr/>
          </p:nvSpPr>
          <p:spPr>
            <a:xfrm>
              <a:off x="0" y="-47625"/>
              <a:ext cx="1471699" cy="1325037"/>
            </a:xfrm>
            <a:prstGeom prst="rect">
              <a:avLst/>
            </a:prstGeom>
          </p:spPr>
          <p:txBody>
            <a:bodyPr anchor="ctr" rtlCol="false" tIns="50800" lIns="50800" bIns="50800" rIns="50800"/>
            <a:lstStyle/>
            <a:p>
              <a:pPr algn="ctr">
                <a:lnSpc>
                  <a:spcPts val="3500"/>
                </a:lnSpc>
              </a:pPr>
            </a:p>
          </p:txBody>
        </p:sp>
      </p:grpSp>
      <p:sp>
        <p:nvSpPr>
          <p:cNvPr name="TextBox 5" id="5"/>
          <p:cNvSpPr txBox="true"/>
          <p:nvPr/>
        </p:nvSpPr>
        <p:spPr>
          <a:xfrm rot="0">
            <a:off x="3385932" y="1540475"/>
            <a:ext cx="11516135" cy="966394"/>
          </a:xfrm>
          <a:prstGeom prst="rect">
            <a:avLst/>
          </a:prstGeom>
        </p:spPr>
        <p:txBody>
          <a:bodyPr anchor="t" rtlCol="false" tIns="0" lIns="0" bIns="0" rIns="0">
            <a:spAutoFit/>
          </a:bodyPr>
          <a:lstStyle/>
          <a:p>
            <a:pPr algn="ctr">
              <a:lnSpc>
                <a:spcPts val="7420"/>
              </a:lnSpc>
            </a:pPr>
            <a:r>
              <a:rPr lang="en-US" sz="7000" b="true">
                <a:solidFill>
                  <a:srgbClr val="222222"/>
                </a:solidFill>
                <a:latin typeface="Black Mango Bold"/>
                <a:ea typeface="Black Mango Bold"/>
                <a:cs typeface="Black Mango Bold"/>
                <a:sym typeface="Black Mango Bold"/>
              </a:rPr>
              <a:t>Sistema loT propuesto </a:t>
            </a:r>
          </a:p>
        </p:txBody>
      </p:sp>
      <p:sp>
        <p:nvSpPr>
          <p:cNvPr name="TextBox 6" id="6"/>
          <p:cNvSpPr txBox="true"/>
          <p:nvPr/>
        </p:nvSpPr>
        <p:spPr>
          <a:xfrm rot="0">
            <a:off x="5144368" y="5124681"/>
            <a:ext cx="3596891" cy="1938031"/>
          </a:xfrm>
          <a:prstGeom prst="rect">
            <a:avLst/>
          </a:prstGeom>
        </p:spPr>
        <p:txBody>
          <a:bodyPr anchor="t" rtlCol="false" tIns="0" lIns="0" bIns="0" rIns="0">
            <a:spAutoFit/>
          </a:bodyPr>
          <a:lstStyle/>
          <a:p>
            <a:pPr algn="ctr">
              <a:lnSpc>
                <a:spcPts val="3096"/>
              </a:lnSpc>
            </a:pPr>
            <a:r>
              <a:rPr lang="en-US" sz="2400">
                <a:solidFill>
                  <a:srgbClr val="222222"/>
                </a:solidFill>
                <a:latin typeface="Inter"/>
                <a:ea typeface="Inter"/>
                <a:cs typeface="Inter"/>
                <a:sym typeface="Inter"/>
              </a:rPr>
              <a:t>Placa ESP8266: procesa la señal del sensor y controla la alerta</a:t>
            </a:r>
          </a:p>
          <a:p>
            <a:pPr algn="ctr">
              <a:lnSpc>
                <a:spcPts val="3096"/>
              </a:lnSpc>
            </a:pPr>
            <a:r>
              <a:rPr lang="en-US" sz="2400">
                <a:solidFill>
                  <a:srgbClr val="222222"/>
                </a:solidFill>
                <a:latin typeface="Inter"/>
                <a:ea typeface="Inter"/>
                <a:cs typeface="Inter"/>
                <a:sym typeface="Inter"/>
              </a:rPr>
              <a:t> </a:t>
            </a:r>
          </a:p>
          <a:p>
            <a:pPr algn="ctr" marL="0" indent="0" lvl="0">
              <a:lnSpc>
                <a:spcPts val="3096"/>
              </a:lnSpc>
            </a:pPr>
            <a:r>
              <a:rPr lang="en-US" sz="2400">
                <a:solidFill>
                  <a:srgbClr val="222222"/>
                </a:solidFill>
                <a:latin typeface="Inter"/>
                <a:ea typeface="Inter"/>
                <a:cs typeface="Inter"/>
                <a:sym typeface="Inter"/>
              </a:rPr>
              <a:t> </a:t>
            </a:r>
          </a:p>
        </p:txBody>
      </p:sp>
      <p:grpSp>
        <p:nvGrpSpPr>
          <p:cNvPr name="Group 7" id="7"/>
          <p:cNvGrpSpPr/>
          <p:nvPr/>
        </p:nvGrpSpPr>
        <p:grpSpPr>
          <a:xfrm rot="0">
            <a:off x="424709" y="3785342"/>
            <a:ext cx="4214900" cy="3658468"/>
            <a:chOff x="0" y="0"/>
            <a:chExt cx="1471699" cy="1277412"/>
          </a:xfrm>
        </p:grpSpPr>
        <p:sp>
          <p:nvSpPr>
            <p:cNvPr name="Freeform 8" id="8"/>
            <p:cNvSpPr/>
            <p:nvPr/>
          </p:nvSpPr>
          <p:spPr>
            <a:xfrm flipH="false" flipV="false" rot="0">
              <a:off x="0" y="0"/>
              <a:ext cx="1471699" cy="1277412"/>
            </a:xfrm>
            <a:custGeom>
              <a:avLst/>
              <a:gdLst/>
              <a:ahLst/>
              <a:cxnLst/>
              <a:rect r="r" b="b" t="t" l="l"/>
              <a:pathLst>
                <a:path h="1277412" w="1471699">
                  <a:moveTo>
                    <a:pt x="93677" y="0"/>
                  </a:moveTo>
                  <a:lnTo>
                    <a:pt x="1378022" y="0"/>
                  </a:lnTo>
                  <a:cubicBezTo>
                    <a:pt x="1429758" y="0"/>
                    <a:pt x="1471699" y="41940"/>
                    <a:pt x="1471699" y="93677"/>
                  </a:cubicBezTo>
                  <a:lnTo>
                    <a:pt x="1471699" y="1183735"/>
                  </a:lnTo>
                  <a:cubicBezTo>
                    <a:pt x="1471699" y="1235471"/>
                    <a:pt x="1429758" y="1277412"/>
                    <a:pt x="1378022" y="1277412"/>
                  </a:cubicBezTo>
                  <a:lnTo>
                    <a:pt x="93677" y="1277412"/>
                  </a:lnTo>
                  <a:cubicBezTo>
                    <a:pt x="68832" y="1277412"/>
                    <a:pt x="45005" y="1267542"/>
                    <a:pt x="27437" y="1249975"/>
                  </a:cubicBezTo>
                  <a:cubicBezTo>
                    <a:pt x="9869" y="1232407"/>
                    <a:pt x="0" y="1208580"/>
                    <a:pt x="0" y="1183735"/>
                  </a:cubicBezTo>
                  <a:lnTo>
                    <a:pt x="0" y="93677"/>
                  </a:lnTo>
                  <a:cubicBezTo>
                    <a:pt x="0" y="41940"/>
                    <a:pt x="41940" y="0"/>
                    <a:pt x="93677" y="0"/>
                  </a:cubicBezTo>
                  <a:close/>
                </a:path>
              </a:pathLst>
            </a:custGeom>
            <a:solidFill>
              <a:srgbClr val="B6E0D4"/>
            </a:solidFill>
          </p:spPr>
        </p:sp>
        <p:sp>
          <p:nvSpPr>
            <p:cNvPr name="TextBox 9" id="9"/>
            <p:cNvSpPr txBox="true"/>
            <p:nvPr/>
          </p:nvSpPr>
          <p:spPr>
            <a:xfrm>
              <a:off x="0" y="-47625"/>
              <a:ext cx="1471699" cy="1325037"/>
            </a:xfrm>
            <a:prstGeom prst="rect">
              <a:avLst/>
            </a:prstGeom>
          </p:spPr>
          <p:txBody>
            <a:bodyPr anchor="ctr" rtlCol="false" tIns="50800" lIns="50800" bIns="50800" rIns="50800"/>
            <a:lstStyle/>
            <a:p>
              <a:pPr algn="ctr">
                <a:lnSpc>
                  <a:spcPts val="3500"/>
                </a:lnSpc>
              </a:pPr>
            </a:p>
          </p:txBody>
        </p:sp>
      </p:grpSp>
      <p:sp>
        <p:nvSpPr>
          <p:cNvPr name="TextBox 10" id="10"/>
          <p:cNvSpPr txBox="true"/>
          <p:nvPr/>
        </p:nvSpPr>
        <p:spPr>
          <a:xfrm rot="0">
            <a:off x="544639" y="4815395"/>
            <a:ext cx="3975040" cy="3115818"/>
          </a:xfrm>
          <a:prstGeom prst="rect">
            <a:avLst/>
          </a:prstGeom>
        </p:spPr>
        <p:txBody>
          <a:bodyPr anchor="t" rtlCol="false" tIns="0" lIns="0" bIns="0" rIns="0">
            <a:spAutoFit/>
          </a:bodyPr>
          <a:lstStyle/>
          <a:p>
            <a:pPr algn="just">
              <a:lnSpc>
                <a:spcPts val="3096"/>
              </a:lnSpc>
            </a:pPr>
            <a:r>
              <a:rPr lang="en-US" sz="2400">
                <a:solidFill>
                  <a:srgbClr val="222222"/>
                </a:solidFill>
                <a:latin typeface="Inter"/>
                <a:ea typeface="Inter"/>
                <a:cs typeface="Inter"/>
                <a:sym typeface="Inter"/>
              </a:rPr>
              <a:t>Microinterruptor: detecta el contacto con el pastillero y envía una señal para activar las alertas luminosas y sonoras.</a:t>
            </a:r>
          </a:p>
          <a:p>
            <a:pPr algn="just">
              <a:lnSpc>
                <a:spcPts val="3096"/>
              </a:lnSpc>
            </a:pPr>
          </a:p>
          <a:p>
            <a:pPr algn="just">
              <a:lnSpc>
                <a:spcPts val="3096"/>
              </a:lnSpc>
            </a:pPr>
          </a:p>
          <a:p>
            <a:pPr algn="just" marL="0" indent="0" lvl="0">
              <a:lnSpc>
                <a:spcPts val="3096"/>
              </a:lnSpc>
            </a:pPr>
          </a:p>
        </p:txBody>
      </p:sp>
      <p:grpSp>
        <p:nvGrpSpPr>
          <p:cNvPr name="Group 11" id="11"/>
          <p:cNvGrpSpPr/>
          <p:nvPr/>
        </p:nvGrpSpPr>
        <p:grpSpPr>
          <a:xfrm rot="0">
            <a:off x="9241538" y="3785342"/>
            <a:ext cx="4214900" cy="3658468"/>
            <a:chOff x="0" y="0"/>
            <a:chExt cx="1471699" cy="1277412"/>
          </a:xfrm>
        </p:grpSpPr>
        <p:sp>
          <p:nvSpPr>
            <p:cNvPr name="Freeform 12" id="12"/>
            <p:cNvSpPr/>
            <p:nvPr/>
          </p:nvSpPr>
          <p:spPr>
            <a:xfrm flipH="false" flipV="false" rot="0">
              <a:off x="0" y="0"/>
              <a:ext cx="1471699" cy="1277412"/>
            </a:xfrm>
            <a:custGeom>
              <a:avLst/>
              <a:gdLst/>
              <a:ahLst/>
              <a:cxnLst/>
              <a:rect r="r" b="b" t="t" l="l"/>
              <a:pathLst>
                <a:path h="1277412" w="1471699">
                  <a:moveTo>
                    <a:pt x="93677" y="0"/>
                  </a:moveTo>
                  <a:lnTo>
                    <a:pt x="1378022" y="0"/>
                  </a:lnTo>
                  <a:cubicBezTo>
                    <a:pt x="1429758" y="0"/>
                    <a:pt x="1471699" y="41940"/>
                    <a:pt x="1471699" y="93677"/>
                  </a:cubicBezTo>
                  <a:lnTo>
                    <a:pt x="1471699" y="1183735"/>
                  </a:lnTo>
                  <a:cubicBezTo>
                    <a:pt x="1471699" y="1235471"/>
                    <a:pt x="1429758" y="1277412"/>
                    <a:pt x="1378022" y="1277412"/>
                  </a:cubicBezTo>
                  <a:lnTo>
                    <a:pt x="93677" y="1277412"/>
                  </a:lnTo>
                  <a:cubicBezTo>
                    <a:pt x="68832" y="1277412"/>
                    <a:pt x="45005" y="1267542"/>
                    <a:pt x="27437" y="1249975"/>
                  </a:cubicBezTo>
                  <a:cubicBezTo>
                    <a:pt x="9869" y="1232407"/>
                    <a:pt x="0" y="1208580"/>
                    <a:pt x="0" y="1183735"/>
                  </a:cubicBezTo>
                  <a:lnTo>
                    <a:pt x="0" y="93677"/>
                  </a:lnTo>
                  <a:cubicBezTo>
                    <a:pt x="0" y="41940"/>
                    <a:pt x="41940" y="0"/>
                    <a:pt x="93677" y="0"/>
                  </a:cubicBezTo>
                  <a:close/>
                </a:path>
              </a:pathLst>
            </a:custGeom>
            <a:solidFill>
              <a:srgbClr val="B6E0D4"/>
            </a:solidFill>
          </p:spPr>
        </p:sp>
        <p:sp>
          <p:nvSpPr>
            <p:cNvPr name="TextBox 13" id="13"/>
            <p:cNvSpPr txBox="true"/>
            <p:nvPr/>
          </p:nvSpPr>
          <p:spPr>
            <a:xfrm>
              <a:off x="0" y="-47625"/>
              <a:ext cx="1471699" cy="1325037"/>
            </a:xfrm>
            <a:prstGeom prst="rect">
              <a:avLst/>
            </a:prstGeom>
          </p:spPr>
          <p:txBody>
            <a:bodyPr anchor="ctr" rtlCol="false" tIns="50800" lIns="50800" bIns="50800" rIns="50800"/>
            <a:lstStyle/>
            <a:p>
              <a:pPr algn="ctr">
                <a:lnSpc>
                  <a:spcPts val="3500"/>
                </a:lnSpc>
              </a:pPr>
            </a:p>
          </p:txBody>
        </p:sp>
      </p:grpSp>
      <p:sp>
        <p:nvSpPr>
          <p:cNvPr name="TextBox 14" id="14"/>
          <p:cNvSpPr txBox="true"/>
          <p:nvPr/>
        </p:nvSpPr>
        <p:spPr>
          <a:xfrm rot="0">
            <a:off x="9193577" y="4930040"/>
            <a:ext cx="4310821" cy="2327314"/>
          </a:xfrm>
          <a:prstGeom prst="rect">
            <a:avLst/>
          </a:prstGeom>
        </p:spPr>
        <p:txBody>
          <a:bodyPr anchor="t" rtlCol="false" tIns="0" lIns="0" bIns="0" rIns="0">
            <a:spAutoFit/>
          </a:bodyPr>
          <a:lstStyle/>
          <a:p>
            <a:pPr algn="ctr">
              <a:lnSpc>
                <a:spcPts val="3096"/>
              </a:lnSpc>
            </a:pPr>
            <a:r>
              <a:rPr lang="en-US" sz="2400">
                <a:solidFill>
                  <a:srgbClr val="222222"/>
                </a:solidFill>
                <a:latin typeface="Inter"/>
                <a:ea typeface="Inter"/>
                <a:cs typeface="Inter"/>
                <a:sym typeface="Inter"/>
              </a:rPr>
              <a:t>LED rojo: GPIO14 (D5), con una resistencia en serie.</a:t>
            </a:r>
          </a:p>
          <a:p>
            <a:pPr algn="ctr">
              <a:lnSpc>
                <a:spcPts val="3096"/>
              </a:lnSpc>
            </a:pPr>
          </a:p>
          <a:p>
            <a:pPr algn="ctr">
              <a:lnSpc>
                <a:spcPts val="3096"/>
              </a:lnSpc>
            </a:pPr>
            <a:r>
              <a:rPr lang="en-US" sz="2400">
                <a:solidFill>
                  <a:srgbClr val="222222"/>
                </a:solidFill>
                <a:latin typeface="Inter"/>
                <a:ea typeface="Inter"/>
                <a:cs typeface="Inter"/>
                <a:sym typeface="Inter"/>
              </a:rPr>
              <a:t>Buzzer: señal a GPIO5 (D1)</a:t>
            </a:r>
          </a:p>
          <a:p>
            <a:pPr algn="ctr">
              <a:lnSpc>
                <a:spcPts val="3096"/>
              </a:lnSpc>
            </a:pPr>
            <a:r>
              <a:rPr lang="en-US" sz="2400">
                <a:solidFill>
                  <a:srgbClr val="222222"/>
                </a:solidFill>
                <a:latin typeface="Inter"/>
                <a:ea typeface="Inter"/>
                <a:cs typeface="Inter"/>
                <a:sym typeface="Inter"/>
              </a:rPr>
              <a:t> </a:t>
            </a:r>
          </a:p>
          <a:p>
            <a:pPr algn="ctr" marL="0" indent="0" lvl="0">
              <a:lnSpc>
                <a:spcPts val="3096"/>
              </a:lnSpc>
            </a:pPr>
          </a:p>
        </p:txBody>
      </p:sp>
      <p:sp>
        <p:nvSpPr>
          <p:cNvPr name="TextBox 15" id="15"/>
          <p:cNvSpPr txBox="true"/>
          <p:nvPr/>
        </p:nvSpPr>
        <p:spPr>
          <a:xfrm rot="0">
            <a:off x="1028700" y="4349054"/>
            <a:ext cx="2925426" cy="482704"/>
          </a:xfrm>
          <a:prstGeom prst="rect">
            <a:avLst/>
          </a:prstGeom>
        </p:spPr>
        <p:txBody>
          <a:bodyPr anchor="t" rtlCol="false" tIns="0" lIns="0" bIns="0" rIns="0">
            <a:spAutoFit/>
          </a:bodyPr>
          <a:lstStyle/>
          <a:p>
            <a:pPr algn="ctr">
              <a:lnSpc>
                <a:spcPts val="3791"/>
              </a:lnSpc>
            </a:pPr>
            <a:r>
              <a:rPr lang="en-US" sz="3577" b="true">
                <a:solidFill>
                  <a:srgbClr val="222222"/>
                </a:solidFill>
                <a:latin typeface="Black Mango Bold"/>
                <a:ea typeface="Black Mango Bold"/>
                <a:cs typeface="Black Mango Bold"/>
                <a:sym typeface="Black Mango Bold"/>
              </a:rPr>
              <a:t>01. Sensor </a:t>
            </a:r>
          </a:p>
        </p:txBody>
      </p:sp>
      <p:sp>
        <p:nvSpPr>
          <p:cNvPr name="TextBox 16" id="16"/>
          <p:cNvSpPr txBox="true"/>
          <p:nvPr/>
        </p:nvSpPr>
        <p:spPr>
          <a:xfrm rot="0">
            <a:off x="5396495" y="4345802"/>
            <a:ext cx="3009787" cy="488643"/>
          </a:xfrm>
          <a:prstGeom prst="rect">
            <a:avLst/>
          </a:prstGeom>
        </p:spPr>
        <p:txBody>
          <a:bodyPr anchor="t" rtlCol="false" tIns="0" lIns="0" bIns="0" rIns="0">
            <a:spAutoFit/>
          </a:bodyPr>
          <a:lstStyle/>
          <a:p>
            <a:pPr algn="ctr">
              <a:lnSpc>
                <a:spcPts val="3824"/>
              </a:lnSpc>
            </a:pPr>
            <a:r>
              <a:rPr lang="en-US" sz="3608" b="true">
                <a:solidFill>
                  <a:srgbClr val="222222"/>
                </a:solidFill>
                <a:latin typeface="Black Mango Bold"/>
                <a:ea typeface="Black Mango Bold"/>
                <a:cs typeface="Black Mango Bold"/>
                <a:sym typeface="Black Mango Bold"/>
              </a:rPr>
              <a:t>02. Control</a:t>
            </a:r>
          </a:p>
        </p:txBody>
      </p:sp>
      <p:sp>
        <p:nvSpPr>
          <p:cNvPr name="TextBox 17" id="17"/>
          <p:cNvSpPr txBox="true"/>
          <p:nvPr/>
        </p:nvSpPr>
        <p:spPr>
          <a:xfrm rot="0">
            <a:off x="9718539" y="4345802"/>
            <a:ext cx="3361129" cy="488643"/>
          </a:xfrm>
          <a:prstGeom prst="rect">
            <a:avLst/>
          </a:prstGeom>
        </p:spPr>
        <p:txBody>
          <a:bodyPr anchor="t" rtlCol="false" tIns="0" lIns="0" bIns="0" rIns="0">
            <a:spAutoFit/>
          </a:bodyPr>
          <a:lstStyle/>
          <a:p>
            <a:pPr algn="ctr">
              <a:lnSpc>
                <a:spcPts val="3824"/>
              </a:lnSpc>
            </a:pPr>
            <a:r>
              <a:rPr lang="en-US" sz="3608" b="true">
                <a:solidFill>
                  <a:srgbClr val="222222"/>
                </a:solidFill>
                <a:latin typeface="Black Mango Bold"/>
                <a:ea typeface="Black Mango Bold"/>
                <a:cs typeface="Black Mango Bold"/>
                <a:sym typeface="Black Mango Bold"/>
              </a:rPr>
              <a:t>03. Actuador</a:t>
            </a:r>
          </a:p>
        </p:txBody>
      </p:sp>
      <p:grpSp>
        <p:nvGrpSpPr>
          <p:cNvPr name="Group 18" id="18"/>
          <p:cNvGrpSpPr/>
          <p:nvPr/>
        </p:nvGrpSpPr>
        <p:grpSpPr>
          <a:xfrm rot="0">
            <a:off x="13648392" y="3785342"/>
            <a:ext cx="4214900" cy="3658468"/>
            <a:chOff x="0" y="0"/>
            <a:chExt cx="1471699" cy="1277412"/>
          </a:xfrm>
        </p:grpSpPr>
        <p:sp>
          <p:nvSpPr>
            <p:cNvPr name="Freeform 19" id="19"/>
            <p:cNvSpPr/>
            <p:nvPr/>
          </p:nvSpPr>
          <p:spPr>
            <a:xfrm flipH="false" flipV="false" rot="0">
              <a:off x="0" y="0"/>
              <a:ext cx="1471699" cy="1277412"/>
            </a:xfrm>
            <a:custGeom>
              <a:avLst/>
              <a:gdLst/>
              <a:ahLst/>
              <a:cxnLst/>
              <a:rect r="r" b="b" t="t" l="l"/>
              <a:pathLst>
                <a:path h="1277412" w="1471699">
                  <a:moveTo>
                    <a:pt x="93677" y="0"/>
                  </a:moveTo>
                  <a:lnTo>
                    <a:pt x="1378022" y="0"/>
                  </a:lnTo>
                  <a:cubicBezTo>
                    <a:pt x="1429758" y="0"/>
                    <a:pt x="1471699" y="41940"/>
                    <a:pt x="1471699" y="93677"/>
                  </a:cubicBezTo>
                  <a:lnTo>
                    <a:pt x="1471699" y="1183735"/>
                  </a:lnTo>
                  <a:cubicBezTo>
                    <a:pt x="1471699" y="1235471"/>
                    <a:pt x="1429758" y="1277412"/>
                    <a:pt x="1378022" y="1277412"/>
                  </a:cubicBezTo>
                  <a:lnTo>
                    <a:pt x="93677" y="1277412"/>
                  </a:lnTo>
                  <a:cubicBezTo>
                    <a:pt x="68832" y="1277412"/>
                    <a:pt x="45005" y="1267542"/>
                    <a:pt x="27437" y="1249975"/>
                  </a:cubicBezTo>
                  <a:cubicBezTo>
                    <a:pt x="9869" y="1232407"/>
                    <a:pt x="0" y="1208580"/>
                    <a:pt x="0" y="1183735"/>
                  </a:cubicBezTo>
                  <a:lnTo>
                    <a:pt x="0" y="93677"/>
                  </a:lnTo>
                  <a:cubicBezTo>
                    <a:pt x="0" y="41940"/>
                    <a:pt x="41940" y="0"/>
                    <a:pt x="93677" y="0"/>
                  </a:cubicBezTo>
                  <a:close/>
                </a:path>
              </a:pathLst>
            </a:custGeom>
            <a:solidFill>
              <a:srgbClr val="B6E0D4"/>
            </a:solidFill>
          </p:spPr>
        </p:sp>
        <p:sp>
          <p:nvSpPr>
            <p:cNvPr name="TextBox 20" id="20"/>
            <p:cNvSpPr txBox="true"/>
            <p:nvPr/>
          </p:nvSpPr>
          <p:spPr>
            <a:xfrm>
              <a:off x="0" y="-47625"/>
              <a:ext cx="1471699" cy="1325037"/>
            </a:xfrm>
            <a:prstGeom prst="rect">
              <a:avLst/>
            </a:prstGeom>
          </p:spPr>
          <p:txBody>
            <a:bodyPr anchor="ctr" rtlCol="false" tIns="50800" lIns="50800" bIns="50800" rIns="50800"/>
            <a:lstStyle/>
            <a:p>
              <a:pPr algn="ctr">
                <a:lnSpc>
                  <a:spcPts val="3500"/>
                </a:lnSpc>
              </a:pPr>
            </a:p>
          </p:txBody>
        </p:sp>
      </p:grpSp>
      <p:sp>
        <p:nvSpPr>
          <p:cNvPr name="TextBox 21" id="21"/>
          <p:cNvSpPr txBox="true"/>
          <p:nvPr/>
        </p:nvSpPr>
        <p:spPr>
          <a:xfrm rot="0">
            <a:off x="14009223" y="5124450"/>
            <a:ext cx="3596891" cy="1548749"/>
          </a:xfrm>
          <a:prstGeom prst="rect">
            <a:avLst/>
          </a:prstGeom>
        </p:spPr>
        <p:txBody>
          <a:bodyPr anchor="t" rtlCol="false" tIns="0" lIns="0" bIns="0" rIns="0">
            <a:spAutoFit/>
          </a:bodyPr>
          <a:lstStyle/>
          <a:p>
            <a:pPr algn="l">
              <a:lnSpc>
                <a:spcPts val="3096"/>
              </a:lnSpc>
            </a:pPr>
            <a:r>
              <a:rPr lang="en-US" sz="2400">
                <a:solidFill>
                  <a:srgbClr val="222222"/>
                </a:solidFill>
                <a:latin typeface="Inter"/>
                <a:ea typeface="Inter"/>
                <a:cs typeface="Inter"/>
                <a:sym typeface="Inter"/>
              </a:rPr>
              <a:t>Wi-Fi; conexión con la aplicación pendiente de validar.</a:t>
            </a:r>
          </a:p>
          <a:p>
            <a:pPr algn="l" marL="0" indent="0" lvl="0">
              <a:lnSpc>
                <a:spcPts val="3096"/>
              </a:lnSpc>
            </a:pPr>
            <a:r>
              <a:rPr lang="en-US" sz="2400">
                <a:solidFill>
                  <a:srgbClr val="222222"/>
                </a:solidFill>
                <a:latin typeface="Inter"/>
                <a:ea typeface="Inter"/>
                <a:cs typeface="Inter"/>
                <a:sym typeface="Inter"/>
              </a:rPr>
              <a:t> </a:t>
            </a:r>
          </a:p>
        </p:txBody>
      </p:sp>
      <p:sp>
        <p:nvSpPr>
          <p:cNvPr name="TextBox 22" id="22"/>
          <p:cNvSpPr txBox="true"/>
          <p:nvPr/>
        </p:nvSpPr>
        <p:spPr>
          <a:xfrm rot="0">
            <a:off x="13563411" y="4339529"/>
            <a:ext cx="4302010" cy="488643"/>
          </a:xfrm>
          <a:prstGeom prst="rect">
            <a:avLst/>
          </a:prstGeom>
        </p:spPr>
        <p:txBody>
          <a:bodyPr anchor="t" rtlCol="false" tIns="0" lIns="0" bIns="0" rIns="0">
            <a:spAutoFit/>
          </a:bodyPr>
          <a:lstStyle/>
          <a:p>
            <a:pPr algn="ctr">
              <a:lnSpc>
                <a:spcPts val="3824"/>
              </a:lnSpc>
            </a:pPr>
            <a:r>
              <a:rPr lang="en-US" sz="3608" b="true">
                <a:solidFill>
                  <a:srgbClr val="222222"/>
                </a:solidFill>
                <a:latin typeface="Black Mango Bold"/>
                <a:ea typeface="Black Mango Bold"/>
                <a:cs typeface="Black Mango Bold"/>
                <a:sym typeface="Black Mango Bold"/>
              </a:rPr>
              <a:t>04. Conectividad</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B6E0D4"/>
        </a:solidFill>
      </p:bgPr>
    </p:bg>
    <p:spTree>
      <p:nvGrpSpPr>
        <p:cNvPr id="1" name=""/>
        <p:cNvGrpSpPr/>
        <p:nvPr/>
      </p:nvGrpSpPr>
      <p:grpSpPr>
        <a:xfrm>
          <a:off x="0" y="0"/>
          <a:ext cx="0" cy="0"/>
          <a:chOff x="0" y="0"/>
          <a:chExt cx="0" cy="0"/>
        </a:xfrm>
      </p:grpSpPr>
      <p:sp>
        <p:nvSpPr>
          <p:cNvPr name="Freeform 2" id="2"/>
          <p:cNvSpPr/>
          <p:nvPr/>
        </p:nvSpPr>
        <p:spPr>
          <a:xfrm flipH="false" flipV="false" rot="0">
            <a:off x="372308" y="4126388"/>
            <a:ext cx="9816921" cy="5152943"/>
          </a:xfrm>
          <a:custGeom>
            <a:avLst/>
            <a:gdLst/>
            <a:ahLst/>
            <a:cxnLst/>
            <a:rect r="r" b="b" t="t" l="l"/>
            <a:pathLst>
              <a:path h="5152943" w="9816921">
                <a:moveTo>
                  <a:pt x="0" y="0"/>
                </a:moveTo>
                <a:lnTo>
                  <a:pt x="9816921" y="0"/>
                </a:lnTo>
                <a:lnTo>
                  <a:pt x="9816921" y="5152943"/>
                </a:lnTo>
                <a:lnTo>
                  <a:pt x="0" y="5152943"/>
                </a:lnTo>
                <a:lnTo>
                  <a:pt x="0" y="0"/>
                </a:lnTo>
                <a:close/>
              </a:path>
            </a:pathLst>
          </a:custGeom>
          <a:blipFill>
            <a:blip r:embed="rId2"/>
            <a:stretch>
              <a:fillRect l="0" t="0" r="0" b="0"/>
            </a:stretch>
          </a:blipFill>
        </p:spPr>
      </p:sp>
      <p:grpSp>
        <p:nvGrpSpPr>
          <p:cNvPr name="Group 3" id="3"/>
          <p:cNvGrpSpPr/>
          <p:nvPr/>
        </p:nvGrpSpPr>
        <p:grpSpPr>
          <a:xfrm rot="0">
            <a:off x="10590517" y="1712422"/>
            <a:ext cx="3071764" cy="850466"/>
            <a:chOff x="0" y="0"/>
            <a:chExt cx="809024" cy="223991"/>
          </a:xfrm>
        </p:grpSpPr>
        <p:sp>
          <p:nvSpPr>
            <p:cNvPr name="Freeform 4" id="4"/>
            <p:cNvSpPr/>
            <p:nvPr/>
          </p:nvSpPr>
          <p:spPr>
            <a:xfrm flipH="false" flipV="false" rot="0">
              <a:off x="0" y="0"/>
              <a:ext cx="809024" cy="223991"/>
            </a:xfrm>
            <a:custGeom>
              <a:avLst/>
              <a:gdLst/>
              <a:ahLst/>
              <a:cxnLst/>
              <a:rect r="r" b="b" t="t" l="l"/>
              <a:pathLst>
                <a:path h="223991" w="809024">
                  <a:moveTo>
                    <a:pt x="111996" y="0"/>
                  </a:moveTo>
                  <a:lnTo>
                    <a:pt x="697029" y="0"/>
                  </a:lnTo>
                  <a:cubicBezTo>
                    <a:pt x="726732" y="0"/>
                    <a:pt x="755218" y="11799"/>
                    <a:pt x="776222" y="32803"/>
                  </a:cubicBezTo>
                  <a:cubicBezTo>
                    <a:pt x="797225" y="53806"/>
                    <a:pt x="809024" y="82292"/>
                    <a:pt x="809024" y="111996"/>
                  </a:cubicBezTo>
                  <a:lnTo>
                    <a:pt x="809024" y="111996"/>
                  </a:lnTo>
                  <a:cubicBezTo>
                    <a:pt x="809024" y="141699"/>
                    <a:pt x="797225" y="170185"/>
                    <a:pt x="776222" y="191188"/>
                  </a:cubicBezTo>
                  <a:cubicBezTo>
                    <a:pt x="755218" y="212192"/>
                    <a:pt x="726732" y="223991"/>
                    <a:pt x="697029" y="223991"/>
                  </a:cubicBezTo>
                  <a:lnTo>
                    <a:pt x="111996" y="223991"/>
                  </a:lnTo>
                  <a:cubicBezTo>
                    <a:pt x="82292" y="223991"/>
                    <a:pt x="53806" y="212192"/>
                    <a:pt x="32803" y="191188"/>
                  </a:cubicBezTo>
                  <a:cubicBezTo>
                    <a:pt x="11799" y="170185"/>
                    <a:pt x="0" y="141699"/>
                    <a:pt x="0" y="111996"/>
                  </a:cubicBezTo>
                  <a:lnTo>
                    <a:pt x="0" y="111996"/>
                  </a:lnTo>
                  <a:cubicBezTo>
                    <a:pt x="0" y="82292"/>
                    <a:pt x="11799" y="53806"/>
                    <a:pt x="32803" y="32803"/>
                  </a:cubicBezTo>
                  <a:cubicBezTo>
                    <a:pt x="53806" y="11799"/>
                    <a:pt x="82292" y="0"/>
                    <a:pt x="111996" y="0"/>
                  </a:cubicBezTo>
                  <a:close/>
                </a:path>
              </a:pathLst>
            </a:custGeom>
            <a:solidFill>
              <a:srgbClr val="F4F4F4"/>
            </a:solidFill>
          </p:spPr>
        </p:sp>
        <p:sp>
          <p:nvSpPr>
            <p:cNvPr name="TextBox 5" id="5"/>
            <p:cNvSpPr txBox="true"/>
            <p:nvPr/>
          </p:nvSpPr>
          <p:spPr>
            <a:xfrm>
              <a:off x="0" y="-66675"/>
              <a:ext cx="809024" cy="290666"/>
            </a:xfrm>
            <a:prstGeom prst="rect">
              <a:avLst/>
            </a:prstGeom>
          </p:spPr>
          <p:txBody>
            <a:bodyPr anchor="ctr" rtlCol="false" tIns="50800" lIns="50800" bIns="50800" rIns="50800"/>
            <a:lstStyle/>
            <a:p>
              <a:pPr algn="ctr">
                <a:lnSpc>
                  <a:spcPts val="4059"/>
                </a:lnSpc>
                <a:spcBef>
                  <a:spcPct val="0"/>
                </a:spcBef>
              </a:pPr>
              <a:r>
                <a:rPr lang="en-US" b="true" sz="2899">
                  <a:solidFill>
                    <a:srgbClr val="000000"/>
                  </a:solidFill>
                  <a:latin typeface="Josefin Sans Bold"/>
                  <a:ea typeface="Josefin Sans Bold"/>
                  <a:cs typeface="Josefin Sans Bold"/>
                  <a:sym typeface="Josefin Sans Bold"/>
                </a:rPr>
                <a:t>DIMENSIONES </a:t>
              </a:r>
            </a:p>
          </p:txBody>
        </p:sp>
      </p:grpSp>
      <p:grpSp>
        <p:nvGrpSpPr>
          <p:cNvPr name="Group 6" id="6"/>
          <p:cNvGrpSpPr/>
          <p:nvPr/>
        </p:nvGrpSpPr>
        <p:grpSpPr>
          <a:xfrm rot="0">
            <a:off x="10590517" y="3981656"/>
            <a:ext cx="3404262" cy="850466"/>
            <a:chOff x="0" y="0"/>
            <a:chExt cx="896596" cy="223991"/>
          </a:xfrm>
        </p:grpSpPr>
        <p:sp>
          <p:nvSpPr>
            <p:cNvPr name="Freeform 7" id="7"/>
            <p:cNvSpPr/>
            <p:nvPr/>
          </p:nvSpPr>
          <p:spPr>
            <a:xfrm flipH="false" flipV="false" rot="0">
              <a:off x="0" y="0"/>
              <a:ext cx="896596" cy="223991"/>
            </a:xfrm>
            <a:custGeom>
              <a:avLst/>
              <a:gdLst/>
              <a:ahLst/>
              <a:cxnLst/>
              <a:rect r="r" b="b" t="t" l="l"/>
              <a:pathLst>
                <a:path h="223991" w="896596">
                  <a:moveTo>
                    <a:pt x="111996" y="0"/>
                  </a:moveTo>
                  <a:lnTo>
                    <a:pt x="784600" y="0"/>
                  </a:lnTo>
                  <a:cubicBezTo>
                    <a:pt x="814303" y="0"/>
                    <a:pt x="842790" y="11799"/>
                    <a:pt x="863793" y="32803"/>
                  </a:cubicBezTo>
                  <a:cubicBezTo>
                    <a:pt x="884796" y="53806"/>
                    <a:pt x="896596" y="82292"/>
                    <a:pt x="896596" y="111996"/>
                  </a:cubicBezTo>
                  <a:lnTo>
                    <a:pt x="896596" y="111996"/>
                  </a:lnTo>
                  <a:cubicBezTo>
                    <a:pt x="896596" y="141699"/>
                    <a:pt x="884796" y="170185"/>
                    <a:pt x="863793" y="191188"/>
                  </a:cubicBezTo>
                  <a:cubicBezTo>
                    <a:pt x="842790" y="212192"/>
                    <a:pt x="814303" y="223991"/>
                    <a:pt x="784600" y="223991"/>
                  </a:cubicBezTo>
                  <a:lnTo>
                    <a:pt x="111996" y="223991"/>
                  </a:lnTo>
                  <a:cubicBezTo>
                    <a:pt x="82292" y="223991"/>
                    <a:pt x="53806" y="212192"/>
                    <a:pt x="32803" y="191188"/>
                  </a:cubicBezTo>
                  <a:cubicBezTo>
                    <a:pt x="11799" y="170185"/>
                    <a:pt x="0" y="141699"/>
                    <a:pt x="0" y="111996"/>
                  </a:cubicBezTo>
                  <a:lnTo>
                    <a:pt x="0" y="111996"/>
                  </a:lnTo>
                  <a:cubicBezTo>
                    <a:pt x="0" y="82292"/>
                    <a:pt x="11799" y="53806"/>
                    <a:pt x="32803" y="32803"/>
                  </a:cubicBezTo>
                  <a:cubicBezTo>
                    <a:pt x="53806" y="11799"/>
                    <a:pt x="82292" y="0"/>
                    <a:pt x="111996" y="0"/>
                  </a:cubicBezTo>
                  <a:close/>
                </a:path>
              </a:pathLst>
            </a:custGeom>
            <a:solidFill>
              <a:srgbClr val="F4F4F4"/>
            </a:solidFill>
          </p:spPr>
        </p:sp>
        <p:sp>
          <p:nvSpPr>
            <p:cNvPr name="TextBox 8" id="8"/>
            <p:cNvSpPr txBox="true"/>
            <p:nvPr/>
          </p:nvSpPr>
          <p:spPr>
            <a:xfrm>
              <a:off x="0" y="-66675"/>
              <a:ext cx="896596" cy="290666"/>
            </a:xfrm>
            <a:prstGeom prst="rect">
              <a:avLst/>
            </a:prstGeom>
          </p:spPr>
          <p:txBody>
            <a:bodyPr anchor="ctr" rtlCol="false" tIns="50800" lIns="50800" bIns="50800" rIns="50800"/>
            <a:lstStyle/>
            <a:p>
              <a:pPr algn="ctr">
                <a:lnSpc>
                  <a:spcPts val="4059"/>
                </a:lnSpc>
                <a:spcBef>
                  <a:spcPct val="0"/>
                </a:spcBef>
              </a:pPr>
              <a:r>
                <a:rPr lang="en-US" b="true" sz="2899">
                  <a:solidFill>
                    <a:srgbClr val="000000"/>
                  </a:solidFill>
                  <a:latin typeface="Josefin Sans Bold"/>
                  <a:ea typeface="Josefin Sans Bold"/>
                  <a:cs typeface="Josefin Sans Bold"/>
                  <a:sym typeface="Josefin Sans Bold"/>
                </a:rPr>
                <a:t>OTRAS VISIONES</a:t>
              </a:r>
            </a:p>
          </p:txBody>
        </p:sp>
      </p:grpSp>
      <p:sp>
        <p:nvSpPr>
          <p:cNvPr name="Freeform 9" id="9"/>
          <p:cNvSpPr/>
          <p:nvPr/>
        </p:nvSpPr>
        <p:spPr>
          <a:xfrm flipH="false" flipV="false" rot="0">
            <a:off x="10589279" y="5178431"/>
            <a:ext cx="3273231" cy="2317006"/>
          </a:xfrm>
          <a:custGeom>
            <a:avLst/>
            <a:gdLst/>
            <a:ahLst/>
            <a:cxnLst/>
            <a:rect r="r" b="b" t="t" l="l"/>
            <a:pathLst>
              <a:path h="2317006" w="3273231">
                <a:moveTo>
                  <a:pt x="0" y="0"/>
                </a:moveTo>
                <a:lnTo>
                  <a:pt x="3273231" y="0"/>
                </a:lnTo>
                <a:lnTo>
                  <a:pt x="3273231" y="2317006"/>
                </a:lnTo>
                <a:lnTo>
                  <a:pt x="0" y="2317006"/>
                </a:lnTo>
                <a:lnTo>
                  <a:pt x="0" y="0"/>
                </a:lnTo>
                <a:close/>
              </a:path>
            </a:pathLst>
          </a:custGeom>
          <a:blipFill>
            <a:blip r:embed="rId3"/>
            <a:stretch>
              <a:fillRect l="-16016" t="-8325" r="-18975" b="-6473"/>
            </a:stretch>
          </a:blipFill>
        </p:spPr>
      </p:sp>
      <p:sp>
        <p:nvSpPr>
          <p:cNvPr name="Freeform 10" id="10"/>
          <p:cNvSpPr/>
          <p:nvPr/>
        </p:nvSpPr>
        <p:spPr>
          <a:xfrm flipH="false" flipV="false" rot="0">
            <a:off x="14262560" y="5281653"/>
            <a:ext cx="3494699" cy="2352201"/>
          </a:xfrm>
          <a:custGeom>
            <a:avLst/>
            <a:gdLst/>
            <a:ahLst/>
            <a:cxnLst/>
            <a:rect r="r" b="b" t="t" l="l"/>
            <a:pathLst>
              <a:path h="2352201" w="3494699">
                <a:moveTo>
                  <a:pt x="0" y="0"/>
                </a:moveTo>
                <a:lnTo>
                  <a:pt x="3494699" y="0"/>
                </a:lnTo>
                <a:lnTo>
                  <a:pt x="3494699" y="2352202"/>
                </a:lnTo>
                <a:lnTo>
                  <a:pt x="0" y="2352202"/>
                </a:lnTo>
                <a:lnTo>
                  <a:pt x="0" y="0"/>
                </a:lnTo>
                <a:close/>
              </a:path>
            </a:pathLst>
          </a:custGeom>
          <a:blipFill>
            <a:blip r:embed="rId4"/>
            <a:stretch>
              <a:fillRect l="-12740" t="-7607" r="-785" b="-12495"/>
            </a:stretch>
          </a:blipFill>
        </p:spPr>
      </p:sp>
      <p:sp>
        <p:nvSpPr>
          <p:cNvPr name="Freeform 11" id="11"/>
          <p:cNvSpPr/>
          <p:nvPr/>
        </p:nvSpPr>
        <p:spPr>
          <a:xfrm flipH="false" flipV="false" rot="0">
            <a:off x="11150030" y="7800237"/>
            <a:ext cx="3568943" cy="2206107"/>
          </a:xfrm>
          <a:custGeom>
            <a:avLst/>
            <a:gdLst/>
            <a:ahLst/>
            <a:cxnLst/>
            <a:rect r="r" b="b" t="t" l="l"/>
            <a:pathLst>
              <a:path h="2206107" w="3568943">
                <a:moveTo>
                  <a:pt x="0" y="0"/>
                </a:moveTo>
                <a:lnTo>
                  <a:pt x="3568943" y="0"/>
                </a:lnTo>
                <a:lnTo>
                  <a:pt x="3568943" y="2206107"/>
                </a:lnTo>
                <a:lnTo>
                  <a:pt x="0" y="2206107"/>
                </a:lnTo>
                <a:lnTo>
                  <a:pt x="0" y="0"/>
                </a:lnTo>
                <a:close/>
              </a:path>
            </a:pathLst>
          </a:custGeom>
          <a:blipFill>
            <a:blip r:embed="rId5"/>
            <a:stretch>
              <a:fillRect l="-941" t="-4591" r="-2858" b="-19549"/>
            </a:stretch>
          </a:blipFill>
        </p:spPr>
      </p:sp>
      <p:sp>
        <p:nvSpPr>
          <p:cNvPr name="TextBox 12" id="12"/>
          <p:cNvSpPr txBox="true"/>
          <p:nvPr/>
        </p:nvSpPr>
        <p:spPr>
          <a:xfrm rot="0">
            <a:off x="607633" y="1378225"/>
            <a:ext cx="9346271" cy="1894046"/>
          </a:xfrm>
          <a:prstGeom prst="rect">
            <a:avLst/>
          </a:prstGeom>
        </p:spPr>
        <p:txBody>
          <a:bodyPr anchor="t" rtlCol="false" tIns="0" lIns="0" bIns="0" rIns="0">
            <a:spAutoFit/>
          </a:bodyPr>
          <a:lstStyle/>
          <a:p>
            <a:pPr algn="l">
              <a:lnSpc>
                <a:spcPts val="7420"/>
              </a:lnSpc>
            </a:pPr>
            <a:r>
              <a:rPr lang="en-US" sz="7000" b="true">
                <a:solidFill>
                  <a:srgbClr val="222222"/>
                </a:solidFill>
                <a:latin typeface="Black Mango Bold"/>
                <a:ea typeface="Black Mango Bold"/>
                <a:cs typeface="Black Mango Bold"/>
                <a:sym typeface="Black Mango Bold"/>
              </a:rPr>
              <a:t>Diseño del encapsulado </a:t>
            </a:r>
          </a:p>
        </p:txBody>
      </p:sp>
      <p:sp>
        <p:nvSpPr>
          <p:cNvPr name="TextBox 13" id="13"/>
          <p:cNvSpPr txBox="true"/>
          <p:nvPr/>
        </p:nvSpPr>
        <p:spPr>
          <a:xfrm rot="0">
            <a:off x="372308" y="3309823"/>
            <a:ext cx="10883045" cy="513803"/>
          </a:xfrm>
          <a:prstGeom prst="rect">
            <a:avLst/>
          </a:prstGeom>
        </p:spPr>
        <p:txBody>
          <a:bodyPr anchor="t" rtlCol="false" tIns="0" lIns="0" bIns="0" rIns="0">
            <a:spAutoFit/>
          </a:bodyPr>
          <a:lstStyle/>
          <a:p>
            <a:pPr algn="l" marL="0" indent="0" lvl="0">
              <a:lnSpc>
                <a:spcPts val="4128"/>
              </a:lnSpc>
            </a:pPr>
            <a:r>
              <a:rPr lang="en-US" sz="3200">
                <a:solidFill>
                  <a:srgbClr val="222222"/>
                </a:solidFill>
                <a:latin typeface="Josefin Sans"/>
                <a:ea typeface="Josefin Sans"/>
                <a:cs typeface="Josefin Sans"/>
                <a:sym typeface="Josefin Sans"/>
              </a:rPr>
              <a:t>Modelo conceptual preparado en OpenSCAD </a:t>
            </a:r>
          </a:p>
        </p:txBody>
      </p:sp>
      <p:sp>
        <p:nvSpPr>
          <p:cNvPr name="TextBox 14" id="14"/>
          <p:cNvSpPr txBox="true"/>
          <p:nvPr/>
        </p:nvSpPr>
        <p:spPr>
          <a:xfrm rot="0">
            <a:off x="10855053" y="2643287"/>
            <a:ext cx="6279451" cy="1035608"/>
          </a:xfrm>
          <a:prstGeom prst="rect">
            <a:avLst/>
          </a:prstGeom>
        </p:spPr>
        <p:txBody>
          <a:bodyPr anchor="t" rtlCol="false" tIns="0" lIns="0" bIns="0" rIns="0">
            <a:spAutoFit/>
          </a:bodyPr>
          <a:lstStyle/>
          <a:p>
            <a:pPr algn="l">
              <a:lnSpc>
                <a:spcPts val="4128"/>
              </a:lnSpc>
            </a:pPr>
            <a:r>
              <a:rPr lang="en-US" sz="3200">
                <a:solidFill>
                  <a:srgbClr val="222222"/>
                </a:solidFill>
                <a:latin typeface="Josefin Sans"/>
                <a:ea typeface="Josefin Sans"/>
                <a:cs typeface="Josefin Sans"/>
                <a:sym typeface="Josefin Sans"/>
              </a:rPr>
              <a:t>Base: 10 × 8 cm. </a:t>
            </a:r>
          </a:p>
          <a:p>
            <a:pPr algn="l" marL="0" indent="0" lvl="0">
              <a:lnSpc>
                <a:spcPts val="4128"/>
              </a:lnSpc>
            </a:pPr>
            <a:r>
              <a:rPr lang="en-US" sz="3200">
                <a:solidFill>
                  <a:srgbClr val="222222"/>
                </a:solidFill>
                <a:latin typeface="Josefin Sans"/>
                <a:ea typeface="Josefin Sans"/>
                <a:cs typeface="Josefin Sans"/>
                <a:sym typeface="Josefin Sans"/>
              </a:rPr>
              <a:t>Altura conceptual: 3 cm</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4F4F4"/>
        </a:solidFill>
      </p:bgPr>
    </p:bg>
    <p:spTree>
      <p:nvGrpSpPr>
        <p:cNvPr id="1" name=""/>
        <p:cNvGrpSpPr/>
        <p:nvPr/>
      </p:nvGrpSpPr>
      <p:grpSpPr>
        <a:xfrm>
          <a:off x="0" y="0"/>
          <a:ext cx="0" cy="0"/>
          <a:chOff x="0" y="0"/>
          <a:chExt cx="0" cy="0"/>
        </a:xfrm>
      </p:grpSpPr>
      <p:sp>
        <p:nvSpPr>
          <p:cNvPr name="TextBox 2" id="2"/>
          <p:cNvSpPr txBox="true"/>
          <p:nvPr/>
        </p:nvSpPr>
        <p:spPr>
          <a:xfrm rot="0">
            <a:off x="1538290" y="1768546"/>
            <a:ext cx="7154157" cy="2839092"/>
          </a:xfrm>
          <a:prstGeom prst="rect">
            <a:avLst/>
          </a:prstGeom>
        </p:spPr>
        <p:txBody>
          <a:bodyPr anchor="t" rtlCol="false" tIns="0" lIns="0" bIns="0" rIns="0">
            <a:spAutoFit/>
          </a:bodyPr>
          <a:lstStyle/>
          <a:p>
            <a:pPr algn="l">
              <a:lnSpc>
                <a:spcPts val="7420"/>
              </a:lnSpc>
            </a:pPr>
            <a:r>
              <a:rPr lang="en-US" sz="7000" b="true">
                <a:solidFill>
                  <a:srgbClr val="222222"/>
                </a:solidFill>
                <a:latin typeface="Black Mango Bold"/>
                <a:ea typeface="Black Mango Bold"/>
                <a:cs typeface="Black Mango Bold"/>
                <a:sym typeface="Black Mango Bold"/>
              </a:rPr>
              <a:t>¿Por qué este diseño y forma?</a:t>
            </a:r>
          </a:p>
        </p:txBody>
      </p:sp>
      <p:sp>
        <p:nvSpPr>
          <p:cNvPr name="TextBox 3" id="3"/>
          <p:cNvSpPr txBox="true"/>
          <p:nvPr/>
        </p:nvSpPr>
        <p:spPr>
          <a:xfrm rot="0">
            <a:off x="1538290" y="4831628"/>
            <a:ext cx="7154157" cy="4573143"/>
          </a:xfrm>
          <a:prstGeom prst="rect">
            <a:avLst/>
          </a:prstGeom>
        </p:spPr>
        <p:txBody>
          <a:bodyPr anchor="t" rtlCol="false" tIns="0" lIns="0" bIns="0" rIns="0">
            <a:spAutoFit/>
          </a:bodyPr>
          <a:lstStyle/>
          <a:p>
            <a:pPr algn="l" marL="0" indent="0" lvl="0">
              <a:lnSpc>
                <a:spcPts val="3611"/>
              </a:lnSpc>
            </a:pPr>
            <a:r>
              <a:rPr lang="en-US" sz="2799">
                <a:solidFill>
                  <a:srgbClr val="222222"/>
                </a:solidFill>
                <a:latin typeface="Inter"/>
                <a:ea typeface="Inter"/>
                <a:cs typeface="Inter"/>
                <a:sym typeface="Inter"/>
              </a:rPr>
              <a:t>PillUp</a:t>
            </a:r>
            <a:r>
              <a:rPr lang="en-US" sz="2799" u="none">
                <a:solidFill>
                  <a:srgbClr val="222222"/>
                </a:solidFill>
                <a:latin typeface="Inter"/>
                <a:ea typeface="Inter"/>
                <a:cs typeface="Inter"/>
                <a:sym typeface="Inter"/>
              </a:rPr>
              <a:t> se diseñó para acompañar al usuario tanto en su casa como durante sus desplazamientos. Por eso, se eligió un formato portátil que permite llevarlo consigo y tenerlo disponible a lo largo del día.</a:t>
            </a:r>
          </a:p>
          <a:p>
            <a:pPr algn="l" marL="0" indent="0" lvl="0">
              <a:lnSpc>
                <a:spcPts val="3611"/>
              </a:lnSpc>
            </a:pPr>
          </a:p>
          <a:p>
            <a:pPr algn="l" marL="0" indent="0" lvl="0">
              <a:lnSpc>
                <a:spcPts val="3611"/>
              </a:lnSpc>
            </a:pPr>
          </a:p>
          <a:p>
            <a:pPr algn="l" marL="0" indent="0" lvl="0">
              <a:lnSpc>
                <a:spcPts val="4644"/>
              </a:lnSpc>
            </a:pPr>
          </a:p>
          <a:p>
            <a:pPr algn="l" marL="0" indent="0" lvl="0">
              <a:lnSpc>
                <a:spcPts val="2579"/>
              </a:lnSpc>
            </a:pPr>
          </a:p>
        </p:txBody>
      </p:sp>
      <p:grpSp>
        <p:nvGrpSpPr>
          <p:cNvPr name="Group 4" id="4"/>
          <p:cNvGrpSpPr/>
          <p:nvPr/>
        </p:nvGrpSpPr>
        <p:grpSpPr>
          <a:xfrm rot="0">
            <a:off x="9692938" y="1941307"/>
            <a:ext cx="1429173" cy="1429173"/>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B6E0D4"/>
            </a:solidFill>
            <a:ln cap="rnd">
              <a:noFill/>
              <a:prstDash val="solid"/>
              <a:round/>
            </a:ln>
          </p:spPr>
        </p:sp>
        <p:sp>
          <p:nvSpPr>
            <p:cNvPr name="TextBox 6" id="6"/>
            <p:cNvSpPr txBox="true"/>
            <p:nvPr/>
          </p:nvSpPr>
          <p:spPr>
            <a:xfrm>
              <a:off x="76200" y="76200"/>
              <a:ext cx="660400" cy="660400"/>
            </a:xfrm>
            <a:prstGeom prst="rect">
              <a:avLst/>
            </a:prstGeom>
          </p:spPr>
          <p:txBody>
            <a:bodyPr anchor="ctr" rtlCol="false" tIns="50800" lIns="50800" bIns="50800" rIns="50800"/>
            <a:lstStyle/>
            <a:p>
              <a:pPr algn="ctr" marL="0" indent="0" lvl="0">
                <a:lnSpc>
                  <a:spcPts val="2879"/>
                </a:lnSpc>
                <a:spcBef>
                  <a:spcPct val="0"/>
                </a:spcBef>
              </a:pPr>
            </a:p>
          </p:txBody>
        </p:sp>
      </p:grpSp>
      <p:grpSp>
        <p:nvGrpSpPr>
          <p:cNvPr name="Group 7" id="7"/>
          <p:cNvGrpSpPr/>
          <p:nvPr/>
        </p:nvGrpSpPr>
        <p:grpSpPr>
          <a:xfrm rot="0">
            <a:off x="11339433" y="1494821"/>
            <a:ext cx="5460251" cy="2322146"/>
            <a:chOff x="0" y="0"/>
            <a:chExt cx="1803504" cy="766998"/>
          </a:xfrm>
        </p:grpSpPr>
        <p:sp>
          <p:nvSpPr>
            <p:cNvPr name="Freeform 8" id="8"/>
            <p:cNvSpPr/>
            <p:nvPr/>
          </p:nvSpPr>
          <p:spPr>
            <a:xfrm flipH="false" flipV="false" rot="0">
              <a:off x="0" y="0"/>
              <a:ext cx="1803504" cy="766998"/>
            </a:xfrm>
            <a:custGeom>
              <a:avLst/>
              <a:gdLst/>
              <a:ahLst/>
              <a:cxnLst/>
              <a:rect r="r" b="b" t="t" l="l"/>
              <a:pathLst>
                <a:path h="766998" w="1803504">
                  <a:moveTo>
                    <a:pt x="34029" y="0"/>
                  </a:moveTo>
                  <a:lnTo>
                    <a:pt x="1769475" y="0"/>
                  </a:lnTo>
                  <a:cubicBezTo>
                    <a:pt x="1778500" y="0"/>
                    <a:pt x="1787156" y="3585"/>
                    <a:pt x="1793537" y="9967"/>
                  </a:cubicBezTo>
                  <a:cubicBezTo>
                    <a:pt x="1799919" y="16348"/>
                    <a:pt x="1803504" y="25004"/>
                    <a:pt x="1803504" y="34029"/>
                  </a:cubicBezTo>
                  <a:lnTo>
                    <a:pt x="1803504" y="732969"/>
                  </a:lnTo>
                  <a:cubicBezTo>
                    <a:pt x="1803504" y="741994"/>
                    <a:pt x="1799919" y="750649"/>
                    <a:pt x="1793537" y="757031"/>
                  </a:cubicBezTo>
                  <a:cubicBezTo>
                    <a:pt x="1787156" y="763412"/>
                    <a:pt x="1778500" y="766998"/>
                    <a:pt x="1769475" y="766998"/>
                  </a:cubicBezTo>
                  <a:lnTo>
                    <a:pt x="34029" y="766998"/>
                  </a:lnTo>
                  <a:cubicBezTo>
                    <a:pt x="25004" y="766998"/>
                    <a:pt x="16348" y="763412"/>
                    <a:pt x="9967" y="757031"/>
                  </a:cubicBezTo>
                  <a:cubicBezTo>
                    <a:pt x="3585" y="750649"/>
                    <a:pt x="0" y="741994"/>
                    <a:pt x="0" y="732969"/>
                  </a:cubicBezTo>
                  <a:lnTo>
                    <a:pt x="0" y="34029"/>
                  </a:lnTo>
                  <a:cubicBezTo>
                    <a:pt x="0" y="25004"/>
                    <a:pt x="3585" y="16348"/>
                    <a:pt x="9967" y="9967"/>
                  </a:cubicBezTo>
                  <a:cubicBezTo>
                    <a:pt x="16348" y="3585"/>
                    <a:pt x="25004" y="0"/>
                    <a:pt x="34029" y="0"/>
                  </a:cubicBezTo>
                  <a:close/>
                </a:path>
              </a:pathLst>
            </a:custGeom>
            <a:solidFill>
              <a:srgbClr val="B6E0D4"/>
            </a:solidFill>
            <a:ln cap="rnd">
              <a:noFill/>
              <a:prstDash val="solid"/>
              <a:round/>
            </a:ln>
          </p:spPr>
        </p:sp>
        <p:sp>
          <p:nvSpPr>
            <p:cNvPr name="TextBox 9" id="9"/>
            <p:cNvSpPr txBox="true"/>
            <p:nvPr/>
          </p:nvSpPr>
          <p:spPr>
            <a:xfrm>
              <a:off x="0" y="0"/>
              <a:ext cx="1803504" cy="766998"/>
            </a:xfrm>
            <a:prstGeom prst="rect">
              <a:avLst/>
            </a:prstGeom>
          </p:spPr>
          <p:txBody>
            <a:bodyPr anchor="ctr" rtlCol="false" tIns="50800" lIns="50800" bIns="50800" rIns="50800"/>
            <a:lstStyle/>
            <a:p>
              <a:pPr algn="ctr" marL="0" indent="0" lvl="0">
                <a:lnSpc>
                  <a:spcPts val="2879"/>
                </a:lnSpc>
                <a:spcBef>
                  <a:spcPct val="0"/>
                </a:spcBef>
              </a:pPr>
            </a:p>
          </p:txBody>
        </p:sp>
      </p:grpSp>
      <p:sp>
        <p:nvSpPr>
          <p:cNvPr name="TextBox 10" id="10"/>
          <p:cNvSpPr txBox="true"/>
          <p:nvPr/>
        </p:nvSpPr>
        <p:spPr>
          <a:xfrm rot="0">
            <a:off x="11437890" y="1569187"/>
            <a:ext cx="5263339" cy="2087690"/>
          </a:xfrm>
          <a:prstGeom prst="rect">
            <a:avLst/>
          </a:prstGeom>
        </p:spPr>
        <p:txBody>
          <a:bodyPr anchor="t" rtlCol="false" tIns="0" lIns="0" bIns="0" rIns="0">
            <a:spAutoFit/>
          </a:bodyPr>
          <a:lstStyle/>
          <a:p>
            <a:pPr algn="just">
              <a:lnSpc>
                <a:spcPts val="4115"/>
              </a:lnSpc>
            </a:pPr>
            <a:r>
              <a:rPr lang="en-US" b="true" sz="2799" spc="-5">
                <a:solidFill>
                  <a:srgbClr val="222222"/>
                </a:solidFill>
                <a:latin typeface="Inter Bold"/>
                <a:ea typeface="Inter Bold"/>
                <a:cs typeface="Inter Bold"/>
                <a:sym typeface="Inter Bold"/>
              </a:rPr>
              <a:t>Usabilidad</a:t>
            </a:r>
          </a:p>
          <a:p>
            <a:pPr algn="just">
              <a:lnSpc>
                <a:spcPts val="3087"/>
              </a:lnSpc>
            </a:pPr>
            <a:r>
              <a:rPr lang="en-US" b="true" sz="2100" spc="-4">
                <a:solidFill>
                  <a:srgbClr val="222222"/>
                </a:solidFill>
                <a:latin typeface="Inter Medium"/>
                <a:ea typeface="Inter Medium"/>
                <a:cs typeface="Inter Medium"/>
                <a:sym typeface="Inter Medium"/>
              </a:rPr>
              <a:t>• </a:t>
            </a:r>
            <a:r>
              <a:rPr lang="en-US" sz="2100" spc="-4">
                <a:solidFill>
                  <a:srgbClr val="222222"/>
                </a:solidFill>
                <a:latin typeface="Inter"/>
                <a:ea typeface="Inter"/>
                <a:cs typeface="Inter"/>
                <a:sym typeface="Inter"/>
              </a:rPr>
              <a:t>Compartimientos individuales para organizar y encontrar las dosis fácilmente</a:t>
            </a:r>
          </a:p>
          <a:p>
            <a:pPr algn="just" marL="0" indent="0" lvl="0">
              <a:lnSpc>
                <a:spcPts val="3087"/>
              </a:lnSpc>
            </a:pPr>
            <a:r>
              <a:rPr lang="en-US" sz="2100" spc="-4">
                <a:solidFill>
                  <a:srgbClr val="222222"/>
                </a:solidFill>
                <a:latin typeface="Inter"/>
                <a:ea typeface="Inter"/>
                <a:cs typeface="Inter"/>
                <a:sym typeface="Inter"/>
              </a:rPr>
              <a:t> • Formato compacto para llevarlo durante el día</a:t>
            </a:r>
          </a:p>
        </p:txBody>
      </p:sp>
      <p:sp>
        <p:nvSpPr>
          <p:cNvPr name="TextBox 11" id="11"/>
          <p:cNvSpPr txBox="true"/>
          <p:nvPr/>
        </p:nvSpPr>
        <p:spPr>
          <a:xfrm rot="0">
            <a:off x="9732974" y="2316486"/>
            <a:ext cx="1349100" cy="750460"/>
          </a:xfrm>
          <a:prstGeom prst="rect">
            <a:avLst/>
          </a:prstGeom>
        </p:spPr>
        <p:txBody>
          <a:bodyPr anchor="t" rtlCol="false" tIns="0" lIns="0" bIns="0" rIns="0">
            <a:spAutoFit/>
          </a:bodyPr>
          <a:lstStyle/>
          <a:p>
            <a:pPr algn="ctr" marL="0" indent="0" lvl="0">
              <a:lnSpc>
                <a:spcPts val="5830"/>
              </a:lnSpc>
              <a:spcBef>
                <a:spcPct val="0"/>
              </a:spcBef>
            </a:pPr>
            <a:r>
              <a:rPr lang="en-US" b="true" sz="5500" strike="noStrike" u="none">
                <a:solidFill>
                  <a:srgbClr val="222222"/>
                </a:solidFill>
                <a:latin typeface="Black Mango Bold"/>
                <a:ea typeface="Black Mango Bold"/>
                <a:cs typeface="Black Mango Bold"/>
                <a:sym typeface="Black Mango Bold"/>
              </a:rPr>
              <a:t>01</a:t>
            </a:r>
          </a:p>
        </p:txBody>
      </p:sp>
      <p:grpSp>
        <p:nvGrpSpPr>
          <p:cNvPr name="Group 12" id="12"/>
          <p:cNvGrpSpPr/>
          <p:nvPr/>
        </p:nvGrpSpPr>
        <p:grpSpPr>
          <a:xfrm rot="0">
            <a:off x="9692938" y="4427249"/>
            <a:ext cx="1429173" cy="1429173"/>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B6E0D4"/>
            </a:solidFill>
            <a:ln cap="rnd">
              <a:noFill/>
              <a:prstDash val="solid"/>
              <a:round/>
            </a:ln>
          </p:spPr>
        </p:sp>
        <p:sp>
          <p:nvSpPr>
            <p:cNvPr name="TextBox 14" id="14"/>
            <p:cNvSpPr txBox="true"/>
            <p:nvPr/>
          </p:nvSpPr>
          <p:spPr>
            <a:xfrm>
              <a:off x="76200" y="76200"/>
              <a:ext cx="660400" cy="660400"/>
            </a:xfrm>
            <a:prstGeom prst="rect">
              <a:avLst/>
            </a:prstGeom>
          </p:spPr>
          <p:txBody>
            <a:bodyPr anchor="ctr" rtlCol="false" tIns="50800" lIns="50800" bIns="50800" rIns="50800"/>
            <a:lstStyle/>
            <a:p>
              <a:pPr algn="ctr" marL="0" indent="0" lvl="0">
                <a:lnSpc>
                  <a:spcPts val="2879"/>
                </a:lnSpc>
                <a:spcBef>
                  <a:spcPct val="0"/>
                </a:spcBef>
              </a:pPr>
            </a:p>
          </p:txBody>
        </p:sp>
      </p:grpSp>
      <p:grpSp>
        <p:nvGrpSpPr>
          <p:cNvPr name="Group 15" id="15"/>
          <p:cNvGrpSpPr/>
          <p:nvPr/>
        </p:nvGrpSpPr>
        <p:grpSpPr>
          <a:xfrm rot="0">
            <a:off x="11339433" y="3980763"/>
            <a:ext cx="5460251" cy="2322146"/>
            <a:chOff x="0" y="0"/>
            <a:chExt cx="1803504" cy="766998"/>
          </a:xfrm>
        </p:grpSpPr>
        <p:sp>
          <p:nvSpPr>
            <p:cNvPr name="Freeform 16" id="16"/>
            <p:cNvSpPr/>
            <p:nvPr/>
          </p:nvSpPr>
          <p:spPr>
            <a:xfrm flipH="false" flipV="false" rot="0">
              <a:off x="0" y="0"/>
              <a:ext cx="1803504" cy="766998"/>
            </a:xfrm>
            <a:custGeom>
              <a:avLst/>
              <a:gdLst/>
              <a:ahLst/>
              <a:cxnLst/>
              <a:rect r="r" b="b" t="t" l="l"/>
              <a:pathLst>
                <a:path h="766998" w="1803504">
                  <a:moveTo>
                    <a:pt x="34029" y="0"/>
                  </a:moveTo>
                  <a:lnTo>
                    <a:pt x="1769475" y="0"/>
                  </a:lnTo>
                  <a:cubicBezTo>
                    <a:pt x="1778500" y="0"/>
                    <a:pt x="1787156" y="3585"/>
                    <a:pt x="1793537" y="9967"/>
                  </a:cubicBezTo>
                  <a:cubicBezTo>
                    <a:pt x="1799919" y="16348"/>
                    <a:pt x="1803504" y="25004"/>
                    <a:pt x="1803504" y="34029"/>
                  </a:cubicBezTo>
                  <a:lnTo>
                    <a:pt x="1803504" y="732969"/>
                  </a:lnTo>
                  <a:cubicBezTo>
                    <a:pt x="1803504" y="741994"/>
                    <a:pt x="1799919" y="750649"/>
                    <a:pt x="1793537" y="757031"/>
                  </a:cubicBezTo>
                  <a:cubicBezTo>
                    <a:pt x="1787156" y="763412"/>
                    <a:pt x="1778500" y="766998"/>
                    <a:pt x="1769475" y="766998"/>
                  </a:cubicBezTo>
                  <a:lnTo>
                    <a:pt x="34029" y="766998"/>
                  </a:lnTo>
                  <a:cubicBezTo>
                    <a:pt x="25004" y="766998"/>
                    <a:pt x="16348" y="763412"/>
                    <a:pt x="9967" y="757031"/>
                  </a:cubicBezTo>
                  <a:cubicBezTo>
                    <a:pt x="3585" y="750649"/>
                    <a:pt x="0" y="741994"/>
                    <a:pt x="0" y="732969"/>
                  </a:cubicBezTo>
                  <a:lnTo>
                    <a:pt x="0" y="34029"/>
                  </a:lnTo>
                  <a:cubicBezTo>
                    <a:pt x="0" y="25004"/>
                    <a:pt x="3585" y="16348"/>
                    <a:pt x="9967" y="9967"/>
                  </a:cubicBezTo>
                  <a:cubicBezTo>
                    <a:pt x="16348" y="3585"/>
                    <a:pt x="25004" y="0"/>
                    <a:pt x="34029" y="0"/>
                  </a:cubicBezTo>
                  <a:close/>
                </a:path>
              </a:pathLst>
            </a:custGeom>
            <a:solidFill>
              <a:srgbClr val="B6E0D4"/>
            </a:solidFill>
            <a:ln cap="rnd">
              <a:noFill/>
              <a:prstDash val="solid"/>
              <a:round/>
            </a:ln>
          </p:spPr>
        </p:sp>
        <p:sp>
          <p:nvSpPr>
            <p:cNvPr name="TextBox 17" id="17"/>
            <p:cNvSpPr txBox="true"/>
            <p:nvPr/>
          </p:nvSpPr>
          <p:spPr>
            <a:xfrm>
              <a:off x="0" y="0"/>
              <a:ext cx="1803504" cy="766998"/>
            </a:xfrm>
            <a:prstGeom prst="rect">
              <a:avLst/>
            </a:prstGeom>
          </p:spPr>
          <p:txBody>
            <a:bodyPr anchor="ctr" rtlCol="false" tIns="50800" lIns="50800" bIns="50800" rIns="50800"/>
            <a:lstStyle/>
            <a:p>
              <a:pPr algn="ctr" marL="0" indent="0" lvl="0">
                <a:lnSpc>
                  <a:spcPts val="2879"/>
                </a:lnSpc>
                <a:spcBef>
                  <a:spcPct val="0"/>
                </a:spcBef>
              </a:pPr>
            </a:p>
          </p:txBody>
        </p:sp>
      </p:grpSp>
      <p:sp>
        <p:nvSpPr>
          <p:cNvPr name="TextBox 18" id="18"/>
          <p:cNvSpPr txBox="true"/>
          <p:nvPr/>
        </p:nvSpPr>
        <p:spPr>
          <a:xfrm rot="0">
            <a:off x="11437890" y="4210575"/>
            <a:ext cx="5039462" cy="2045898"/>
          </a:xfrm>
          <a:prstGeom prst="rect">
            <a:avLst/>
          </a:prstGeom>
        </p:spPr>
        <p:txBody>
          <a:bodyPr anchor="t" rtlCol="false" tIns="0" lIns="0" bIns="0" rIns="0">
            <a:spAutoFit/>
          </a:bodyPr>
          <a:lstStyle/>
          <a:p>
            <a:pPr algn="just">
              <a:lnSpc>
                <a:spcPts val="4115"/>
              </a:lnSpc>
            </a:pPr>
            <a:r>
              <a:rPr lang="en-US" b="true" sz="2799" spc="-5">
                <a:solidFill>
                  <a:srgbClr val="222222"/>
                </a:solidFill>
                <a:latin typeface="Inter Bold"/>
                <a:ea typeface="Inter Bold"/>
                <a:cs typeface="Inter Bold"/>
                <a:sym typeface="Inter Bold"/>
              </a:rPr>
              <a:t>Protección y Mantenimiento </a:t>
            </a:r>
          </a:p>
          <a:p>
            <a:pPr algn="just" marL="453390" indent="-226695" lvl="1">
              <a:lnSpc>
                <a:spcPts val="3087"/>
              </a:lnSpc>
              <a:buFont typeface="Arial"/>
              <a:buChar char="•"/>
            </a:pPr>
            <a:r>
              <a:rPr lang="en-US" b="true" sz="2100" spc="-4">
                <a:solidFill>
                  <a:srgbClr val="222222"/>
                </a:solidFill>
                <a:latin typeface="Inter Medium"/>
                <a:ea typeface="Inter Medium"/>
                <a:cs typeface="Inter Medium"/>
                <a:sym typeface="Inter Medium"/>
              </a:rPr>
              <a:t>Tapas individuales que protegen y permiten acceder a cada compartimiento </a:t>
            </a:r>
          </a:p>
          <a:p>
            <a:pPr algn="just" marL="0" indent="0" lvl="0">
              <a:lnSpc>
                <a:spcPts val="2586"/>
              </a:lnSpc>
            </a:pPr>
          </a:p>
        </p:txBody>
      </p:sp>
      <p:sp>
        <p:nvSpPr>
          <p:cNvPr name="TextBox 19" id="19"/>
          <p:cNvSpPr txBox="true"/>
          <p:nvPr/>
        </p:nvSpPr>
        <p:spPr>
          <a:xfrm rot="0">
            <a:off x="9732974" y="4793221"/>
            <a:ext cx="1349100" cy="750460"/>
          </a:xfrm>
          <a:prstGeom prst="rect">
            <a:avLst/>
          </a:prstGeom>
        </p:spPr>
        <p:txBody>
          <a:bodyPr anchor="t" rtlCol="false" tIns="0" lIns="0" bIns="0" rIns="0">
            <a:spAutoFit/>
          </a:bodyPr>
          <a:lstStyle/>
          <a:p>
            <a:pPr algn="ctr" marL="0" indent="0" lvl="0">
              <a:lnSpc>
                <a:spcPts val="5830"/>
              </a:lnSpc>
              <a:spcBef>
                <a:spcPct val="0"/>
              </a:spcBef>
            </a:pPr>
            <a:r>
              <a:rPr lang="en-US" b="true" sz="5500" strike="noStrike" u="none">
                <a:solidFill>
                  <a:srgbClr val="222222"/>
                </a:solidFill>
                <a:latin typeface="Black Mango Bold"/>
                <a:ea typeface="Black Mango Bold"/>
                <a:cs typeface="Black Mango Bold"/>
                <a:sym typeface="Black Mango Bold"/>
              </a:rPr>
              <a:t>02</a:t>
            </a:r>
          </a:p>
        </p:txBody>
      </p:sp>
      <p:grpSp>
        <p:nvGrpSpPr>
          <p:cNvPr name="Group 20" id="20"/>
          <p:cNvGrpSpPr/>
          <p:nvPr/>
        </p:nvGrpSpPr>
        <p:grpSpPr>
          <a:xfrm rot="0">
            <a:off x="9692938" y="6916519"/>
            <a:ext cx="1429173" cy="1429173"/>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B6E0D4"/>
            </a:solidFill>
            <a:ln cap="rnd">
              <a:noFill/>
              <a:prstDash val="solid"/>
              <a:round/>
            </a:ln>
          </p:spPr>
        </p:sp>
        <p:sp>
          <p:nvSpPr>
            <p:cNvPr name="TextBox 22" id="22"/>
            <p:cNvSpPr txBox="true"/>
            <p:nvPr/>
          </p:nvSpPr>
          <p:spPr>
            <a:xfrm>
              <a:off x="76200" y="76200"/>
              <a:ext cx="660400" cy="660400"/>
            </a:xfrm>
            <a:prstGeom prst="rect">
              <a:avLst/>
            </a:prstGeom>
          </p:spPr>
          <p:txBody>
            <a:bodyPr anchor="ctr" rtlCol="false" tIns="50800" lIns="50800" bIns="50800" rIns="50800"/>
            <a:lstStyle/>
            <a:p>
              <a:pPr algn="ctr" marL="0" indent="0" lvl="0">
                <a:lnSpc>
                  <a:spcPts val="2879"/>
                </a:lnSpc>
                <a:spcBef>
                  <a:spcPct val="0"/>
                </a:spcBef>
              </a:pPr>
            </a:p>
          </p:txBody>
        </p:sp>
      </p:grpSp>
      <p:grpSp>
        <p:nvGrpSpPr>
          <p:cNvPr name="Group 23" id="23"/>
          <p:cNvGrpSpPr/>
          <p:nvPr/>
        </p:nvGrpSpPr>
        <p:grpSpPr>
          <a:xfrm rot="0">
            <a:off x="11339433" y="6470033"/>
            <a:ext cx="5460251" cy="2322146"/>
            <a:chOff x="0" y="0"/>
            <a:chExt cx="1803504" cy="766998"/>
          </a:xfrm>
        </p:grpSpPr>
        <p:sp>
          <p:nvSpPr>
            <p:cNvPr name="Freeform 24" id="24"/>
            <p:cNvSpPr/>
            <p:nvPr/>
          </p:nvSpPr>
          <p:spPr>
            <a:xfrm flipH="false" flipV="false" rot="0">
              <a:off x="0" y="0"/>
              <a:ext cx="1803504" cy="766998"/>
            </a:xfrm>
            <a:custGeom>
              <a:avLst/>
              <a:gdLst/>
              <a:ahLst/>
              <a:cxnLst/>
              <a:rect r="r" b="b" t="t" l="l"/>
              <a:pathLst>
                <a:path h="766998" w="1803504">
                  <a:moveTo>
                    <a:pt x="34029" y="0"/>
                  </a:moveTo>
                  <a:lnTo>
                    <a:pt x="1769475" y="0"/>
                  </a:lnTo>
                  <a:cubicBezTo>
                    <a:pt x="1778500" y="0"/>
                    <a:pt x="1787156" y="3585"/>
                    <a:pt x="1793537" y="9967"/>
                  </a:cubicBezTo>
                  <a:cubicBezTo>
                    <a:pt x="1799919" y="16348"/>
                    <a:pt x="1803504" y="25004"/>
                    <a:pt x="1803504" y="34029"/>
                  </a:cubicBezTo>
                  <a:lnTo>
                    <a:pt x="1803504" y="732969"/>
                  </a:lnTo>
                  <a:cubicBezTo>
                    <a:pt x="1803504" y="741994"/>
                    <a:pt x="1799919" y="750649"/>
                    <a:pt x="1793537" y="757031"/>
                  </a:cubicBezTo>
                  <a:cubicBezTo>
                    <a:pt x="1787156" y="763412"/>
                    <a:pt x="1778500" y="766998"/>
                    <a:pt x="1769475" y="766998"/>
                  </a:cubicBezTo>
                  <a:lnTo>
                    <a:pt x="34029" y="766998"/>
                  </a:lnTo>
                  <a:cubicBezTo>
                    <a:pt x="25004" y="766998"/>
                    <a:pt x="16348" y="763412"/>
                    <a:pt x="9967" y="757031"/>
                  </a:cubicBezTo>
                  <a:cubicBezTo>
                    <a:pt x="3585" y="750649"/>
                    <a:pt x="0" y="741994"/>
                    <a:pt x="0" y="732969"/>
                  </a:cubicBezTo>
                  <a:lnTo>
                    <a:pt x="0" y="34029"/>
                  </a:lnTo>
                  <a:cubicBezTo>
                    <a:pt x="0" y="25004"/>
                    <a:pt x="3585" y="16348"/>
                    <a:pt x="9967" y="9967"/>
                  </a:cubicBezTo>
                  <a:cubicBezTo>
                    <a:pt x="16348" y="3585"/>
                    <a:pt x="25004" y="0"/>
                    <a:pt x="34029" y="0"/>
                  </a:cubicBezTo>
                  <a:close/>
                </a:path>
              </a:pathLst>
            </a:custGeom>
            <a:solidFill>
              <a:srgbClr val="B6E0D4"/>
            </a:solidFill>
            <a:ln cap="rnd">
              <a:noFill/>
              <a:prstDash val="solid"/>
              <a:round/>
            </a:ln>
          </p:spPr>
        </p:sp>
        <p:sp>
          <p:nvSpPr>
            <p:cNvPr name="TextBox 25" id="25"/>
            <p:cNvSpPr txBox="true"/>
            <p:nvPr/>
          </p:nvSpPr>
          <p:spPr>
            <a:xfrm>
              <a:off x="0" y="0"/>
              <a:ext cx="1803504" cy="766998"/>
            </a:xfrm>
            <a:prstGeom prst="rect">
              <a:avLst/>
            </a:prstGeom>
          </p:spPr>
          <p:txBody>
            <a:bodyPr anchor="ctr" rtlCol="false" tIns="50800" lIns="50800" bIns="50800" rIns="50800"/>
            <a:lstStyle/>
            <a:p>
              <a:pPr algn="ctr" marL="0" indent="0" lvl="0">
                <a:lnSpc>
                  <a:spcPts val="2879"/>
                </a:lnSpc>
                <a:spcBef>
                  <a:spcPct val="0"/>
                </a:spcBef>
              </a:pPr>
            </a:p>
          </p:txBody>
        </p:sp>
      </p:grpSp>
      <p:sp>
        <p:nvSpPr>
          <p:cNvPr name="TextBox 26" id="26"/>
          <p:cNvSpPr txBox="true"/>
          <p:nvPr/>
        </p:nvSpPr>
        <p:spPr>
          <a:xfrm rot="0">
            <a:off x="11823157" y="6765320"/>
            <a:ext cx="4492804" cy="1645848"/>
          </a:xfrm>
          <a:prstGeom prst="rect">
            <a:avLst/>
          </a:prstGeom>
        </p:spPr>
        <p:txBody>
          <a:bodyPr anchor="t" rtlCol="false" tIns="0" lIns="0" bIns="0" rIns="0">
            <a:spAutoFit/>
          </a:bodyPr>
          <a:lstStyle/>
          <a:p>
            <a:pPr algn="just">
              <a:lnSpc>
                <a:spcPts val="4115"/>
              </a:lnSpc>
            </a:pPr>
            <a:r>
              <a:rPr lang="en-US" b="true" sz="2799" spc="-5">
                <a:solidFill>
                  <a:srgbClr val="222222"/>
                </a:solidFill>
                <a:latin typeface="Inter Bold"/>
                <a:ea typeface="Inter Bold"/>
                <a:cs typeface="Inter Bold"/>
                <a:sym typeface="Inter Bold"/>
              </a:rPr>
              <a:t>Fabricación </a:t>
            </a:r>
          </a:p>
          <a:p>
            <a:pPr algn="just" marL="453390" indent="-226695" lvl="1">
              <a:lnSpc>
                <a:spcPts val="3087"/>
              </a:lnSpc>
              <a:buFont typeface="Arial"/>
              <a:buChar char="•"/>
            </a:pPr>
            <a:r>
              <a:rPr lang="en-US" b="true" sz="2100" spc="-4">
                <a:solidFill>
                  <a:srgbClr val="222222"/>
                </a:solidFill>
                <a:latin typeface="Inter Medium"/>
                <a:ea typeface="Inter Medium"/>
                <a:cs typeface="Inter Medium"/>
                <a:sym typeface="Inter Medium"/>
              </a:rPr>
              <a:t>Estructura y tapas fabricadas mediante impresión 3D</a:t>
            </a:r>
          </a:p>
          <a:p>
            <a:pPr algn="just" marL="0" indent="0" lvl="0">
              <a:lnSpc>
                <a:spcPts val="2586"/>
              </a:lnSpc>
            </a:pPr>
          </a:p>
        </p:txBody>
      </p:sp>
      <p:sp>
        <p:nvSpPr>
          <p:cNvPr name="TextBox 27" id="27"/>
          <p:cNvSpPr txBox="true"/>
          <p:nvPr/>
        </p:nvSpPr>
        <p:spPr>
          <a:xfrm rot="0">
            <a:off x="9732974" y="7256597"/>
            <a:ext cx="1349100" cy="750460"/>
          </a:xfrm>
          <a:prstGeom prst="rect">
            <a:avLst/>
          </a:prstGeom>
        </p:spPr>
        <p:txBody>
          <a:bodyPr anchor="t" rtlCol="false" tIns="0" lIns="0" bIns="0" rIns="0">
            <a:spAutoFit/>
          </a:bodyPr>
          <a:lstStyle/>
          <a:p>
            <a:pPr algn="ctr" marL="0" indent="0" lvl="0">
              <a:lnSpc>
                <a:spcPts val="5830"/>
              </a:lnSpc>
              <a:spcBef>
                <a:spcPct val="0"/>
              </a:spcBef>
            </a:pPr>
            <a:r>
              <a:rPr lang="en-US" b="true" sz="5500" strike="noStrike" u="none">
                <a:solidFill>
                  <a:srgbClr val="222222"/>
                </a:solidFill>
                <a:latin typeface="Black Mango Bold"/>
                <a:ea typeface="Black Mango Bold"/>
                <a:cs typeface="Black Mango Bold"/>
                <a:sym typeface="Black Mango Bold"/>
              </a:rPr>
              <a:t>03</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grpSp>
        <p:nvGrpSpPr>
          <p:cNvPr name="Group 2" id="2"/>
          <p:cNvGrpSpPr/>
          <p:nvPr/>
        </p:nvGrpSpPr>
        <p:grpSpPr>
          <a:xfrm rot="0">
            <a:off x="1155027" y="3491155"/>
            <a:ext cx="4264473" cy="726225"/>
            <a:chOff x="0" y="0"/>
            <a:chExt cx="1123153" cy="191269"/>
          </a:xfrm>
        </p:grpSpPr>
        <p:sp>
          <p:nvSpPr>
            <p:cNvPr name="Freeform 3" id="3"/>
            <p:cNvSpPr/>
            <p:nvPr/>
          </p:nvSpPr>
          <p:spPr>
            <a:xfrm flipH="false" flipV="false" rot="0">
              <a:off x="0" y="0"/>
              <a:ext cx="1123153" cy="191269"/>
            </a:xfrm>
            <a:custGeom>
              <a:avLst/>
              <a:gdLst/>
              <a:ahLst/>
              <a:cxnLst/>
              <a:rect r="r" b="b" t="t" l="l"/>
              <a:pathLst>
                <a:path h="191269" w="1123153">
                  <a:moveTo>
                    <a:pt x="92588" y="0"/>
                  </a:moveTo>
                  <a:lnTo>
                    <a:pt x="1030566" y="0"/>
                  </a:lnTo>
                  <a:cubicBezTo>
                    <a:pt x="1055122" y="0"/>
                    <a:pt x="1078672" y="9755"/>
                    <a:pt x="1096035" y="27118"/>
                  </a:cubicBezTo>
                  <a:cubicBezTo>
                    <a:pt x="1113399" y="44482"/>
                    <a:pt x="1123153" y="68032"/>
                    <a:pt x="1123153" y="92588"/>
                  </a:cubicBezTo>
                  <a:lnTo>
                    <a:pt x="1123153" y="98681"/>
                  </a:lnTo>
                  <a:cubicBezTo>
                    <a:pt x="1123153" y="149816"/>
                    <a:pt x="1081701" y="191269"/>
                    <a:pt x="1030566" y="191269"/>
                  </a:cubicBezTo>
                  <a:lnTo>
                    <a:pt x="92588" y="191269"/>
                  </a:lnTo>
                  <a:cubicBezTo>
                    <a:pt x="68032" y="191269"/>
                    <a:pt x="44482" y="181514"/>
                    <a:pt x="27118" y="164151"/>
                  </a:cubicBezTo>
                  <a:cubicBezTo>
                    <a:pt x="9755" y="146787"/>
                    <a:pt x="0" y="123237"/>
                    <a:pt x="0" y="98681"/>
                  </a:cubicBezTo>
                  <a:lnTo>
                    <a:pt x="0" y="92588"/>
                  </a:lnTo>
                  <a:cubicBezTo>
                    <a:pt x="0" y="68032"/>
                    <a:pt x="9755" y="44482"/>
                    <a:pt x="27118" y="27118"/>
                  </a:cubicBezTo>
                  <a:cubicBezTo>
                    <a:pt x="44482" y="9755"/>
                    <a:pt x="68032" y="0"/>
                    <a:pt x="92588" y="0"/>
                  </a:cubicBezTo>
                  <a:close/>
                </a:path>
              </a:pathLst>
            </a:custGeom>
            <a:solidFill>
              <a:srgbClr val="B6E0D4"/>
            </a:solidFill>
          </p:spPr>
        </p:sp>
        <p:sp>
          <p:nvSpPr>
            <p:cNvPr name="TextBox 4" id="4"/>
            <p:cNvSpPr txBox="true"/>
            <p:nvPr/>
          </p:nvSpPr>
          <p:spPr>
            <a:xfrm>
              <a:off x="0" y="-47625"/>
              <a:ext cx="1123153" cy="238894"/>
            </a:xfrm>
            <a:prstGeom prst="rect">
              <a:avLst/>
            </a:prstGeom>
          </p:spPr>
          <p:txBody>
            <a:bodyPr anchor="ctr" rtlCol="false" tIns="50800" lIns="50800" bIns="50800" rIns="50800"/>
            <a:lstStyle/>
            <a:p>
              <a:pPr algn="ctr">
                <a:lnSpc>
                  <a:spcPts val="3219"/>
                </a:lnSpc>
                <a:spcBef>
                  <a:spcPct val="0"/>
                </a:spcBef>
              </a:pPr>
            </a:p>
          </p:txBody>
        </p:sp>
      </p:grpSp>
      <p:sp>
        <p:nvSpPr>
          <p:cNvPr name="TextBox 5" id="5"/>
          <p:cNvSpPr txBox="true"/>
          <p:nvPr/>
        </p:nvSpPr>
        <p:spPr>
          <a:xfrm rot="0">
            <a:off x="2359783" y="1114425"/>
            <a:ext cx="10104530" cy="1894039"/>
          </a:xfrm>
          <a:prstGeom prst="rect">
            <a:avLst/>
          </a:prstGeom>
        </p:spPr>
        <p:txBody>
          <a:bodyPr anchor="t" rtlCol="false" tIns="0" lIns="0" bIns="0" rIns="0">
            <a:spAutoFit/>
          </a:bodyPr>
          <a:lstStyle/>
          <a:p>
            <a:pPr algn="l">
              <a:lnSpc>
                <a:spcPts val="7419"/>
              </a:lnSpc>
            </a:pPr>
            <a:r>
              <a:rPr lang="en-US" sz="6999" b="true">
                <a:solidFill>
                  <a:srgbClr val="222222"/>
                </a:solidFill>
                <a:latin typeface="Black Mango Bold"/>
                <a:ea typeface="Black Mango Bold"/>
                <a:cs typeface="Black Mango Bold"/>
                <a:sym typeface="Black Mango Bold"/>
              </a:rPr>
              <a:t>Evidencia de Iteración y Testing</a:t>
            </a:r>
          </a:p>
        </p:txBody>
      </p:sp>
      <p:sp>
        <p:nvSpPr>
          <p:cNvPr name="Freeform 6" id="6"/>
          <p:cNvSpPr/>
          <p:nvPr/>
        </p:nvSpPr>
        <p:spPr>
          <a:xfrm flipH="false" flipV="false" rot="-1369370">
            <a:off x="15188642" y="7673066"/>
            <a:ext cx="3317279" cy="2889049"/>
          </a:xfrm>
          <a:custGeom>
            <a:avLst/>
            <a:gdLst/>
            <a:ahLst/>
            <a:cxnLst/>
            <a:rect r="r" b="b" t="t" l="l"/>
            <a:pathLst>
              <a:path h="2889049" w="3317279">
                <a:moveTo>
                  <a:pt x="0" y="0"/>
                </a:moveTo>
                <a:lnTo>
                  <a:pt x="3317279" y="0"/>
                </a:lnTo>
                <a:lnTo>
                  <a:pt x="3317279" y="2889048"/>
                </a:lnTo>
                <a:lnTo>
                  <a:pt x="0" y="28890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2976258" y="6392801"/>
            <a:ext cx="14156715" cy="1424609"/>
          </a:xfrm>
          <a:prstGeom prst="rect">
            <a:avLst/>
          </a:prstGeom>
        </p:spPr>
        <p:txBody>
          <a:bodyPr anchor="t" rtlCol="false" tIns="0" lIns="0" bIns="0" rIns="0">
            <a:spAutoFit/>
          </a:bodyPr>
          <a:lstStyle/>
          <a:p>
            <a:pPr algn="just">
              <a:lnSpc>
                <a:spcPts val="2879"/>
              </a:lnSpc>
              <a:spcBef>
                <a:spcPct val="0"/>
              </a:spcBef>
            </a:pPr>
            <a:r>
              <a:rPr lang="en-US" sz="2399">
                <a:solidFill>
                  <a:srgbClr val="222222"/>
                </a:solidFill>
                <a:latin typeface="Inter"/>
                <a:ea typeface="Inter"/>
                <a:cs typeface="Inter"/>
                <a:sym typeface="Inter"/>
              </a:rPr>
              <a:t>El prototipo aborda este aspecto del problema al facilitar la separación de los medicamentos y permitir que cada compartimiento pueda abrirse de manera individual. Además, su diseño compacto busca mantener la portabilidad del dispositivo para que pueda acompañar al usuario durante el día.</a:t>
            </a:r>
          </a:p>
        </p:txBody>
      </p:sp>
      <p:grpSp>
        <p:nvGrpSpPr>
          <p:cNvPr name="Group 8" id="8"/>
          <p:cNvGrpSpPr/>
          <p:nvPr/>
        </p:nvGrpSpPr>
        <p:grpSpPr>
          <a:xfrm rot="0">
            <a:off x="1836079" y="4703155"/>
            <a:ext cx="858518" cy="848996"/>
            <a:chOff x="0" y="0"/>
            <a:chExt cx="226112" cy="223604"/>
          </a:xfrm>
        </p:grpSpPr>
        <p:sp>
          <p:nvSpPr>
            <p:cNvPr name="Freeform 9" id="9"/>
            <p:cNvSpPr/>
            <p:nvPr/>
          </p:nvSpPr>
          <p:spPr>
            <a:xfrm flipH="false" flipV="false" rot="0">
              <a:off x="0" y="0"/>
              <a:ext cx="226112" cy="223604"/>
            </a:xfrm>
            <a:custGeom>
              <a:avLst/>
              <a:gdLst/>
              <a:ahLst/>
              <a:cxnLst/>
              <a:rect r="r" b="b" t="t" l="l"/>
              <a:pathLst>
                <a:path h="223604" w="226112">
                  <a:moveTo>
                    <a:pt x="111802" y="0"/>
                  </a:moveTo>
                  <a:lnTo>
                    <a:pt x="114310" y="0"/>
                  </a:lnTo>
                  <a:cubicBezTo>
                    <a:pt x="143962" y="0"/>
                    <a:pt x="172399" y="11779"/>
                    <a:pt x="193366" y="32746"/>
                  </a:cubicBezTo>
                  <a:cubicBezTo>
                    <a:pt x="214333" y="53713"/>
                    <a:pt x="226112" y="82150"/>
                    <a:pt x="226112" y="111802"/>
                  </a:cubicBezTo>
                  <a:lnTo>
                    <a:pt x="226112" y="111802"/>
                  </a:lnTo>
                  <a:cubicBezTo>
                    <a:pt x="226112" y="173548"/>
                    <a:pt x="176056" y="223604"/>
                    <a:pt x="114310" y="223604"/>
                  </a:cubicBezTo>
                  <a:lnTo>
                    <a:pt x="111802" y="223604"/>
                  </a:lnTo>
                  <a:cubicBezTo>
                    <a:pt x="50055" y="223604"/>
                    <a:pt x="0" y="173548"/>
                    <a:pt x="0" y="111802"/>
                  </a:cubicBezTo>
                  <a:lnTo>
                    <a:pt x="0" y="111802"/>
                  </a:lnTo>
                  <a:cubicBezTo>
                    <a:pt x="0" y="50055"/>
                    <a:pt x="50055" y="0"/>
                    <a:pt x="111802" y="0"/>
                  </a:cubicBezTo>
                  <a:close/>
                </a:path>
              </a:pathLst>
            </a:custGeom>
            <a:solidFill>
              <a:srgbClr val="B6E0D4"/>
            </a:solidFill>
          </p:spPr>
        </p:sp>
        <p:sp>
          <p:nvSpPr>
            <p:cNvPr name="TextBox 10" id="10"/>
            <p:cNvSpPr txBox="true"/>
            <p:nvPr/>
          </p:nvSpPr>
          <p:spPr>
            <a:xfrm>
              <a:off x="0" y="-47625"/>
              <a:ext cx="226112" cy="271229"/>
            </a:xfrm>
            <a:prstGeom prst="rect">
              <a:avLst/>
            </a:prstGeom>
          </p:spPr>
          <p:txBody>
            <a:bodyPr anchor="ctr" rtlCol="false" tIns="50800" lIns="50800" bIns="50800" rIns="50800"/>
            <a:lstStyle/>
            <a:p>
              <a:pPr algn="ctr">
                <a:lnSpc>
                  <a:spcPts val="3219"/>
                </a:lnSpc>
                <a:spcBef>
                  <a:spcPct val="0"/>
                </a:spcBef>
              </a:pPr>
            </a:p>
          </p:txBody>
        </p:sp>
      </p:grpSp>
      <p:grpSp>
        <p:nvGrpSpPr>
          <p:cNvPr name="Group 11" id="11"/>
          <p:cNvGrpSpPr/>
          <p:nvPr/>
        </p:nvGrpSpPr>
        <p:grpSpPr>
          <a:xfrm rot="0">
            <a:off x="1836079" y="6598202"/>
            <a:ext cx="858518" cy="848996"/>
            <a:chOff x="0" y="0"/>
            <a:chExt cx="226112" cy="223604"/>
          </a:xfrm>
        </p:grpSpPr>
        <p:sp>
          <p:nvSpPr>
            <p:cNvPr name="Freeform 12" id="12"/>
            <p:cNvSpPr/>
            <p:nvPr/>
          </p:nvSpPr>
          <p:spPr>
            <a:xfrm flipH="false" flipV="false" rot="0">
              <a:off x="0" y="0"/>
              <a:ext cx="226112" cy="223604"/>
            </a:xfrm>
            <a:custGeom>
              <a:avLst/>
              <a:gdLst/>
              <a:ahLst/>
              <a:cxnLst/>
              <a:rect r="r" b="b" t="t" l="l"/>
              <a:pathLst>
                <a:path h="223604" w="226112">
                  <a:moveTo>
                    <a:pt x="111802" y="0"/>
                  </a:moveTo>
                  <a:lnTo>
                    <a:pt x="114310" y="0"/>
                  </a:lnTo>
                  <a:cubicBezTo>
                    <a:pt x="143962" y="0"/>
                    <a:pt x="172399" y="11779"/>
                    <a:pt x="193366" y="32746"/>
                  </a:cubicBezTo>
                  <a:cubicBezTo>
                    <a:pt x="214333" y="53713"/>
                    <a:pt x="226112" y="82150"/>
                    <a:pt x="226112" y="111802"/>
                  </a:cubicBezTo>
                  <a:lnTo>
                    <a:pt x="226112" y="111802"/>
                  </a:lnTo>
                  <a:cubicBezTo>
                    <a:pt x="226112" y="173548"/>
                    <a:pt x="176056" y="223604"/>
                    <a:pt x="114310" y="223604"/>
                  </a:cubicBezTo>
                  <a:lnTo>
                    <a:pt x="111802" y="223604"/>
                  </a:lnTo>
                  <a:cubicBezTo>
                    <a:pt x="50055" y="223604"/>
                    <a:pt x="0" y="173548"/>
                    <a:pt x="0" y="111802"/>
                  </a:cubicBezTo>
                  <a:lnTo>
                    <a:pt x="0" y="111802"/>
                  </a:lnTo>
                  <a:cubicBezTo>
                    <a:pt x="0" y="50055"/>
                    <a:pt x="50055" y="0"/>
                    <a:pt x="111802" y="0"/>
                  </a:cubicBezTo>
                  <a:close/>
                </a:path>
              </a:pathLst>
            </a:custGeom>
            <a:solidFill>
              <a:srgbClr val="B6E0D4"/>
            </a:solidFill>
          </p:spPr>
        </p:sp>
        <p:sp>
          <p:nvSpPr>
            <p:cNvPr name="TextBox 13" id="13"/>
            <p:cNvSpPr txBox="true"/>
            <p:nvPr/>
          </p:nvSpPr>
          <p:spPr>
            <a:xfrm>
              <a:off x="0" y="-47625"/>
              <a:ext cx="226112" cy="271229"/>
            </a:xfrm>
            <a:prstGeom prst="rect">
              <a:avLst/>
            </a:prstGeom>
          </p:spPr>
          <p:txBody>
            <a:bodyPr anchor="ctr" rtlCol="false" tIns="50800" lIns="50800" bIns="50800" rIns="50800"/>
            <a:lstStyle/>
            <a:p>
              <a:pPr algn="ctr">
                <a:lnSpc>
                  <a:spcPts val="3219"/>
                </a:lnSpc>
                <a:spcBef>
                  <a:spcPct val="0"/>
                </a:spcBef>
              </a:pPr>
            </a:p>
          </p:txBody>
        </p:sp>
      </p:grpSp>
      <p:sp>
        <p:nvSpPr>
          <p:cNvPr name="TextBox 14" id="14"/>
          <p:cNvSpPr txBox="true"/>
          <p:nvPr/>
        </p:nvSpPr>
        <p:spPr>
          <a:xfrm rot="0">
            <a:off x="1806407" y="6785403"/>
            <a:ext cx="917862" cy="465068"/>
          </a:xfrm>
          <a:prstGeom prst="rect">
            <a:avLst/>
          </a:prstGeom>
        </p:spPr>
        <p:txBody>
          <a:bodyPr anchor="t" rtlCol="false" tIns="0" lIns="0" bIns="0" rIns="0">
            <a:spAutoFit/>
          </a:bodyPr>
          <a:lstStyle/>
          <a:p>
            <a:pPr algn="ctr">
              <a:lnSpc>
                <a:spcPts val="3600"/>
              </a:lnSpc>
              <a:spcBef>
                <a:spcPct val="0"/>
              </a:spcBef>
            </a:pPr>
            <a:r>
              <a:rPr lang="en-US" b="true" sz="3000">
                <a:solidFill>
                  <a:srgbClr val="222222"/>
                </a:solidFill>
                <a:latin typeface="Black Mango Semi-Bold"/>
                <a:ea typeface="Black Mango Semi-Bold"/>
                <a:cs typeface="Black Mango Semi-Bold"/>
                <a:sym typeface="Black Mango Semi-Bold"/>
              </a:rPr>
              <a:t>0.2</a:t>
            </a:r>
          </a:p>
        </p:txBody>
      </p:sp>
      <p:sp>
        <p:nvSpPr>
          <p:cNvPr name="TextBox 15" id="15"/>
          <p:cNvSpPr txBox="true"/>
          <p:nvPr/>
        </p:nvSpPr>
        <p:spPr>
          <a:xfrm rot="0">
            <a:off x="1979624" y="4877090"/>
            <a:ext cx="571427" cy="894522"/>
          </a:xfrm>
          <a:prstGeom prst="rect">
            <a:avLst/>
          </a:prstGeom>
        </p:spPr>
        <p:txBody>
          <a:bodyPr anchor="t" rtlCol="false" tIns="0" lIns="0" bIns="0" rIns="0">
            <a:spAutoFit/>
          </a:bodyPr>
          <a:lstStyle/>
          <a:p>
            <a:pPr algn="ctr">
              <a:lnSpc>
                <a:spcPts val="3599"/>
              </a:lnSpc>
              <a:spcBef>
                <a:spcPct val="0"/>
              </a:spcBef>
            </a:pPr>
            <a:r>
              <a:rPr lang="en-US" b="true" sz="2999">
                <a:solidFill>
                  <a:srgbClr val="222222"/>
                </a:solidFill>
                <a:latin typeface="Black Mango Semi-Bold"/>
                <a:ea typeface="Black Mango Semi-Bold"/>
                <a:cs typeface="Black Mango Semi-Bold"/>
                <a:sym typeface="Black Mango Semi-Bold"/>
              </a:rPr>
              <a:t>0.1 </a:t>
            </a:r>
          </a:p>
        </p:txBody>
      </p:sp>
      <p:sp>
        <p:nvSpPr>
          <p:cNvPr name="TextBox 16" id="16"/>
          <p:cNvSpPr txBox="true"/>
          <p:nvPr/>
        </p:nvSpPr>
        <p:spPr>
          <a:xfrm rot="0">
            <a:off x="2976258" y="4703155"/>
            <a:ext cx="14156715" cy="1068457"/>
          </a:xfrm>
          <a:prstGeom prst="rect">
            <a:avLst/>
          </a:prstGeom>
        </p:spPr>
        <p:txBody>
          <a:bodyPr anchor="t" rtlCol="false" tIns="0" lIns="0" bIns="0" rIns="0">
            <a:spAutoFit/>
          </a:bodyPr>
          <a:lstStyle/>
          <a:p>
            <a:pPr algn="just">
              <a:lnSpc>
                <a:spcPts val="2879"/>
              </a:lnSpc>
              <a:spcBef>
                <a:spcPct val="0"/>
              </a:spcBef>
            </a:pPr>
            <a:r>
              <a:rPr lang="en-US" sz="2399">
                <a:solidFill>
                  <a:srgbClr val="222222"/>
                </a:solidFill>
                <a:latin typeface="Inter"/>
                <a:ea typeface="Inter"/>
                <a:cs typeface="Inter"/>
                <a:sym typeface="Inter"/>
              </a:rPr>
              <a:t>Abordar el problema del olvido y la desorganización en la toma de medicamentos. En esta etapa, el prototipo resuelve parcialmente este problema mediante una estructura física, permitiendo organizar las dosis de forma ordenada y asociarlas a distintos horarios o momentos del día.</a:t>
            </a:r>
          </a:p>
        </p:txBody>
      </p:sp>
      <p:sp>
        <p:nvSpPr>
          <p:cNvPr name="TextBox 17" id="17"/>
          <p:cNvSpPr txBox="true"/>
          <p:nvPr/>
        </p:nvSpPr>
        <p:spPr>
          <a:xfrm rot="0">
            <a:off x="1806407" y="3630637"/>
            <a:ext cx="2961715" cy="447261"/>
          </a:xfrm>
          <a:prstGeom prst="rect">
            <a:avLst/>
          </a:prstGeom>
        </p:spPr>
        <p:txBody>
          <a:bodyPr anchor="t" rtlCol="false" tIns="0" lIns="0" bIns="0" rIns="0">
            <a:spAutoFit/>
          </a:bodyPr>
          <a:lstStyle/>
          <a:p>
            <a:pPr algn="ctr">
              <a:lnSpc>
                <a:spcPts val="3599"/>
              </a:lnSpc>
              <a:spcBef>
                <a:spcPct val="0"/>
              </a:spcBef>
            </a:pPr>
            <a:r>
              <a:rPr lang="en-US" b="true" sz="2999">
                <a:solidFill>
                  <a:srgbClr val="222222"/>
                </a:solidFill>
                <a:latin typeface="Black Mango Bold"/>
                <a:ea typeface="Black Mango Bold"/>
                <a:cs typeface="Black Mango Bold"/>
                <a:sym typeface="Black Mango Bold"/>
              </a:rPr>
              <a:t>resolución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B6E0D4"/>
        </a:solidFill>
      </p:bgPr>
    </p:bg>
    <p:spTree>
      <p:nvGrpSpPr>
        <p:cNvPr id="1" name=""/>
        <p:cNvGrpSpPr/>
        <p:nvPr/>
      </p:nvGrpSpPr>
      <p:grpSpPr>
        <a:xfrm>
          <a:off x="0" y="0"/>
          <a:ext cx="0" cy="0"/>
          <a:chOff x="0" y="0"/>
          <a:chExt cx="0" cy="0"/>
        </a:xfrm>
      </p:grpSpPr>
      <p:grpSp>
        <p:nvGrpSpPr>
          <p:cNvPr name="Group 2" id="2"/>
          <p:cNvGrpSpPr/>
          <p:nvPr/>
        </p:nvGrpSpPr>
        <p:grpSpPr>
          <a:xfrm rot="0">
            <a:off x="478900" y="2987573"/>
            <a:ext cx="5410848" cy="721324"/>
            <a:chOff x="0" y="0"/>
            <a:chExt cx="1425079" cy="189978"/>
          </a:xfrm>
        </p:grpSpPr>
        <p:sp>
          <p:nvSpPr>
            <p:cNvPr name="Freeform 3" id="3"/>
            <p:cNvSpPr/>
            <p:nvPr/>
          </p:nvSpPr>
          <p:spPr>
            <a:xfrm flipH="false" flipV="false" rot="0">
              <a:off x="0" y="0"/>
              <a:ext cx="1425079" cy="189978"/>
            </a:xfrm>
            <a:custGeom>
              <a:avLst/>
              <a:gdLst/>
              <a:ahLst/>
              <a:cxnLst/>
              <a:rect r="r" b="b" t="t" l="l"/>
              <a:pathLst>
                <a:path h="189978" w="1425079">
                  <a:moveTo>
                    <a:pt x="72972" y="0"/>
                  </a:moveTo>
                  <a:lnTo>
                    <a:pt x="1352108" y="0"/>
                  </a:lnTo>
                  <a:cubicBezTo>
                    <a:pt x="1371461" y="0"/>
                    <a:pt x="1390022" y="7688"/>
                    <a:pt x="1403706" y="21373"/>
                  </a:cubicBezTo>
                  <a:cubicBezTo>
                    <a:pt x="1417391" y="35058"/>
                    <a:pt x="1425079" y="53618"/>
                    <a:pt x="1425079" y="72972"/>
                  </a:cubicBezTo>
                  <a:lnTo>
                    <a:pt x="1425079" y="117007"/>
                  </a:lnTo>
                  <a:cubicBezTo>
                    <a:pt x="1425079" y="136360"/>
                    <a:pt x="1417391" y="154921"/>
                    <a:pt x="1403706" y="168606"/>
                  </a:cubicBezTo>
                  <a:cubicBezTo>
                    <a:pt x="1390022" y="182290"/>
                    <a:pt x="1371461" y="189978"/>
                    <a:pt x="1352108" y="189978"/>
                  </a:cubicBezTo>
                  <a:lnTo>
                    <a:pt x="72972" y="189978"/>
                  </a:lnTo>
                  <a:cubicBezTo>
                    <a:pt x="32670" y="189978"/>
                    <a:pt x="0" y="157308"/>
                    <a:pt x="0" y="117007"/>
                  </a:cubicBezTo>
                  <a:lnTo>
                    <a:pt x="0" y="72972"/>
                  </a:lnTo>
                  <a:cubicBezTo>
                    <a:pt x="0" y="32670"/>
                    <a:pt x="32670" y="0"/>
                    <a:pt x="72972" y="0"/>
                  </a:cubicBezTo>
                  <a:close/>
                </a:path>
              </a:pathLst>
            </a:custGeom>
            <a:solidFill>
              <a:srgbClr val="F4F4F4"/>
            </a:solidFill>
          </p:spPr>
        </p:sp>
        <p:sp>
          <p:nvSpPr>
            <p:cNvPr name="TextBox 4" id="4"/>
            <p:cNvSpPr txBox="true"/>
            <p:nvPr/>
          </p:nvSpPr>
          <p:spPr>
            <a:xfrm>
              <a:off x="0" y="-47625"/>
              <a:ext cx="1425079" cy="237603"/>
            </a:xfrm>
            <a:prstGeom prst="rect">
              <a:avLst/>
            </a:prstGeom>
          </p:spPr>
          <p:txBody>
            <a:bodyPr anchor="ctr" rtlCol="false" tIns="50800" lIns="50800" bIns="50800" rIns="50800"/>
            <a:lstStyle/>
            <a:p>
              <a:pPr algn="ctr">
                <a:lnSpc>
                  <a:spcPts val="3219"/>
                </a:lnSpc>
                <a:spcBef>
                  <a:spcPct val="0"/>
                </a:spcBef>
              </a:pPr>
            </a:p>
          </p:txBody>
        </p:sp>
      </p:grpSp>
      <p:grpSp>
        <p:nvGrpSpPr>
          <p:cNvPr name="Group 5" id="5"/>
          <p:cNvGrpSpPr/>
          <p:nvPr/>
        </p:nvGrpSpPr>
        <p:grpSpPr>
          <a:xfrm rot="0">
            <a:off x="1102683" y="4698659"/>
            <a:ext cx="858518" cy="848996"/>
            <a:chOff x="0" y="0"/>
            <a:chExt cx="226112" cy="223604"/>
          </a:xfrm>
        </p:grpSpPr>
        <p:sp>
          <p:nvSpPr>
            <p:cNvPr name="Freeform 6" id="6"/>
            <p:cNvSpPr/>
            <p:nvPr/>
          </p:nvSpPr>
          <p:spPr>
            <a:xfrm flipH="false" flipV="false" rot="0">
              <a:off x="0" y="0"/>
              <a:ext cx="226112" cy="223604"/>
            </a:xfrm>
            <a:custGeom>
              <a:avLst/>
              <a:gdLst/>
              <a:ahLst/>
              <a:cxnLst/>
              <a:rect r="r" b="b" t="t" l="l"/>
              <a:pathLst>
                <a:path h="223604" w="226112">
                  <a:moveTo>
                    <a:pt x="111802" y="0"/>
                  </a:moveTo>
                  <a:lnTo>
                    <a:pt x="114310" y="0"/>
                  </a:lnTo>
                  <a:cubicBezTo>
                    <a:pt x="143962" y="0"/>
                    <a:pt x="172399" y="11779"/>
                    <a:pt x="193366" y="32746"/>
                  </a:cubicBezTo>
                  <a:cubicBezTo>
                    <a:pt x="214333" y="53713"/>
                    <a:pt x="226112" y="82150"/>
                    <a:pt x="226112" y="111802"/>
                  </a:cubicBezTo>
                  <a:lnTo>
                    <a:pt x="226112" y="111802"/>
                  </a:lnTo>
                  <a:cubicBezTo>
                    <a:pt x="226112" y="173548"/>
                    <a:pt x="176056" y="223604"/>
                    <a:pt x="114310" y="223604"/>
                  </a:cubicBezTo>
                  <a:lnTo>
                    <a:pt x="111802" y="223604"/>
                  </a:lnTo>
                  <a:cubicBezTo>
                    <a:pt x="50055" y="223604"/>
                    <a:pt x="0" y="173548"/>
                    <a:pt x="0" y="111802"/>
                  </a:cubicBezTo>
                  <a:lnTo>
                    <a:pt x="0" y="111802"/>
                  </a:lnTo>
                  <a:cubicBezTo>
                    <a:pt x="0" y="50055"/>
                    <a:pt x="50055" y="0"/>
                    <a:pt x="111802" y="0"/>
                  </a:cubicBezTo>
                  <a:close/>
                </a:path>
              </a:pathLst>
            </a:custGeom>
            <a:solidFill>
              <a:srgbClr val="F4F4F4"/>
            </a:solidFill>
          </p:spPr>
        </p:sp>
        <p:sp>
          <p:nvSpPr>
            <p:cNvPr name="TextBox 7" id="7"/>
            <p:cNvSpPr txBox="true"/>
            <p:nvPr/>
          </p:nvSpPr>
          <p:spPr>
            <a:xfrm>
              <a:off x="0" y="-47625"/>
              <a:ext cx="226112" cy="271229"/>
            </a:xfrm>
            <a:prstGeom prst="rect">
              <a:avLst/>
            </a:prstGeom>
          </p:spPr>
          <p:txBody>
            <a:bodyPr anchor="ctr" rtlCol="false" tIns="50800" lIns="50800" bIns="50800" rIns="50800"/>
            <a:lstStyle/>
            <a:p>
              <a:pPr algn="ctr">
                <a:lnSpc>
                  <a:spcPts val="3219"/>
                </a:lnSpc>
                <a:spcBef>
                  <a:spcPct val="0"/>
                </a:spcBef>
              </a:pPr>
            </a:p>
          </p:txBody>
        </p:sp>
      </p:grpSp>
      <p:grpSp>
        <p:nvGrpSpPr>
          <p:cNvPr name="Group 8" id="8"/>
          <p:cNvGrpSpPr/>
          <p:nvPr/>
        </p:nvGrpSpPr>
        <p:grpSpPr>
          <a:xfrm rot="0">
            <a:off x="1102683" y="5804266"/>
            <a:ext cx="858518" cy="848996"/>
            <a:chOff x="0" y="0"/>
            <a:chExt cx="226112" cy="223604"/>
          </a:xfrm>
        </p:grpSpPr>
        <p:sp>
          <p:nvSpPr>
            <p:cNvPr name="Freeform 9" id="9"/>
            <p:cNvSpPr/>
            <p:nvPr/>
          </p:nvSpPr>
          <p:spPr>
            <a:xfrm flipH="false" flipV="false" rot="0">
              <a:off x="0" y="0"/>
              <a:ext cx="226112" cy="223604"/>
            </a:xfrm>
            <a:custGeom>
              <a:avLst/>
              <a:gdLst/>
              <a:ahLst/>
              <a:cxnLst/>
              <a:rect r="r" b="b" t="t" l="l"/>
              <a:pathLst>
                <a:path h="223604" w="226112">
                  <a:moveTo>
                    <a:pt x="111802" y="0"/>
                  </a:moveTo>
                  <a:lnTo>
                    <a:pt x="114310" y="0"/>
                  </a:lnTo>
                  <a:cubicBezTo>
                    <a:pt x="143962" y="0"/>
                    <a:pt x="172399" y="11779"/>
                    <a:pt x="193366" y="32746"/>
                  </a:cubicBezTo>
                  <a:cubicBezTo>
                    <a:pt x="214333" y="53713"/>
                    <a:pt x="226112" y="82150"/>
                    <a:pt x="226112" y="111802"/>
                  </a:cubicBezTo>
                  <a:lnTo>
                    <a:pt x="226112" y="111802"/>
                  </a:lnTo>
                  <a:cubicBezTo>
                    <a:pt x="226112" y="173548"/>
                    <a:pt x="176056" y="223604"/>
                    <a:pt x="114310" y="223604"/>
                  </a:cubicBezTo>
                  <a:lnTo>
                    <a:pt x="111802" y="223604"/>
                  </a:lnTo>
                  <a:cubicBezTo>
                    <a:pt x="50055" y="223604"/>
                    <a:pt x="0" y="173548"/>
                    <a:pt x="0" y="111802"/>
                  </a:cubicBezTo>
                  <a:lnTo>
                    <a:pt x="0" y="111802"/>
                  </a:lnTo>
                  <a:cubicBezTo>
                    <a:pt x="0" y="50055"/>
                    <a:pt x="50055" y="0"/>
                    <a:pt x="111802" y="0"/>
                  </a:cubicBezTo>
                  <a:close/>
                </a:path>
              </a:pathLst>
            </a:custGeom>
            <a:solidFill>
              <a:srgbClr val="F4F4F4"/>
            </a:solidFill>
          </p:spPr>
        </p:sp>
        <p:sp>
          <p:nvSpPr>
            <p:cNvPr name="TextBox 10" id="10"/>
            <p:cNvSpPr txBox="true"/>
            <p:nvPr/>
          </p:nvSpPr>
          <p:spPr>
            <a:xfrm>
              <a:off x="0" y="-47625"/>
              <a:ext cx="226112" cy="271229"/>
            </a:xfrm>
            <a:prstGeom prst="rect">
              <a:avLst/>
            </a:prstGeom>
          </p:spPr>
          <p:txBody>
            <a:bodyPr anchor="ctr" rtlCol="false" tIns="50800" lIns="50800" bIns="50800" rIns="50800"/>
            <a:lstStyle/>
            <a:p>
              <a:pPr algn="ctr">
                <a:lnSpc>
                  <a:spcPts val="3219"/>
                </a:lnSpc>
                <a:spcBef>
                  <a:spcPct val="0"/>
                </a:spcBef>
              </a:pPr>
            </a:p>
          </p:txBody>
        </p:sp>
      </p:grpSp>
      <p:sp>
        <p:nvSpPr>
          <p:cNvPr name="Freeform 11" id="11"/>
          <p:cNvSpPr/>
          <p:nvPr/>
        </p:nvSpPr>
        <p:spPr>
          <a:xfrm flipH="false" flipV="false" rot="0">
            <a:off x="12563897" y="395101"/>
            <a:ext cx="3100381" cy="3210267"/>
          </a:xfrm>
          <a:custGeom>
            <a:avLst/>
            <a:gdLst/>
            <a:ahLst/>
            <a:cxnLst/>
            <a:rect r="r" b="b" t="t" l="l"/>
            <a:pathLst>
              <a:path h="3210267" w="3100381">
                <a:moveTo>
                  <a:pt x="0" y="0"/>
                </a:moveTo>
                <a:lnTo>
                  <a:pt x="3100381" y="0"/>
                </a:lnTo>
                <a:lnTo>
                  <a:pt x="3100381" y="3210267"/>
                </a:lnTo>
                <a:lnTo>
                  <a:pt x="0" y="3210267"/>
                </a:lnTo>
                <a:lnTo>
                  <a:pt x="0" y="0"/>
                </a:lnTo>
                <a:close/>
              </a:path>
            </a:pathLst>
          </a:custGeom>
          <a:blipFill>
            <a:blip r:embed="rId2"/>
            <a:stretch>
              <a:fillRect l="0" t="0" r="0" b="0"/>
            </a:stretch>
          </a:blipFill>
        </p:spPr>
      </p:sp>
      <p:sp>
        <p:nvSpPr>
          <p:cNvPr name="TextBox 12" id="12"/>
          <p:cNvSpPr txBox="true"/>
          <p:nvPr/>
        </p:nvSpPr>
        <p:spPr>
          <a:xfrm rot="0">
            <a:off x="2187010" y="1064958"/>
            <a:ext cx="10104530" cy="1894039"/>
          </a:xfrm>
          <a:prstGeom prst="rect">
            <a:avLst/>
          </a:prstGeom>
        </p:spPr>
        <p:txBody>
          <a:bodyPr anchor="t" rtlCol="false" tIns="0" lIns="0" bIns="0" rIns="0">
            <a:spAutoFit/>
          </a:bodyPr>
          <a:lstStyle/>
          <a:p>
            <a:pPr algn="l">
              <a:lnSpc>
                <a:spcPts val="7419"/>
              </a:lnSpc>
            </a:pPr>
            <a:r>
              <a:rPr lang="en-US" sz="6999" b="true">
                <a:solidFill>
                  <a:srgbClr val="222222"/>
                </a:solidFill>
                <a:latin typeface="Black Mango Bold"/>
                <a:ea typeface="Black Mango Bold"/>
                <a:cs typeface="Black Mango Bold"/>
                <a:sym typeface="Black Mango Bold"/>
              </a:rPr>
              <a:t>Evidencia de Iteración y Testing</a:t>
            </a:r>
          </a:p>
        </p:txBody>
      </p:sp>
      <p:sp>
        <p:nvSpPr>
          <p:cNvPr name="TextBox 13" id="13"/>
          <p:cNvSpPr txBox="true"/>
          <p:nvPr/>
        </p:nvSpPr>
        <p:spPr>
          <a:xfrm rot="0">
            <a:off x="958024" y="3118761"/>
            <a:ext cx="4452601" cy="447261"/>
          </a:xfrm>
          <a:prstGeom prst="rect">
            <a:avLst/>
          </a:prstGeom>
        </p:spPr>
        <p:txBody>
          <a:bodyPr anchor="t" rtlCol="false" tIns="0" lIns="0" bIns="0" rIns="0">
            <a:spAutoFit/>
          </a:bodyPr>
          <a:lstStyle/>
          <a:p>
            <a:pPr algn="ctr">
              <a:lnSpc>
                <a:spcPts val="3599"/>
              </a:lnSpc>
              <a:spcBef>
                <a:spcPct val="0"/>
              </a:spcBef>
            </a:pPr>
            <a:r>
              <a:rPr lang="en-US" b="true" sz="2999">
                <a:solidFill>
                  <a:srgbClr val="222222"/>
                </a:solidFill>
                <a:latin typeface="Black Mango Bold"/>
                <a:ea typeface="Black Mango Bold"/>
                <a:cs typeface="Black Mango Bold"/>
                <a:sym typeface="Black Mango Bold"/>
              </a:rPr>
              <a:t>proceso de iteración </a:t>
            </a:r>
          </a:p>
        </p:txBody>
      </p:sp>
      <p:sp>
        <p:nvSpPr>
          <p:cNvPr name="TextBox 14" id="14"/>
          <p:cNvSpPr txBox="true"/>
          <p:nvPr/>
        </p:nvSpPr>
        <p:spPr>
          <a:xfrm rot="0">
            <a:off x="958024" y="3824443"/>
            <a:ext cx="16702714" cy="364435"/>
          </a:xfrm>
          <a:prstGeom prst="rect">
            <a:avLst/>
          </a:prstGeom>
        </p:spPr>
        <p:txBody>
          <a:bodyPr anchor="t" rtlCol="false" tIns="0" lIns="0" bIns="0" rIns="0">
            <a:spAutoFit/>
          </a:bodyPr>
          <a:lstStyle/>
          <a:p>
            <a:pPr algn="just">
              <a:lnSpc>
                <a:spcPts val="2999"/>
              </a:lnSpc>
              <a:spcBef>
                <a:spcPct val="0"/>
              </a:spcBef>
            </a:pPr>
            <a:r>
              <a:rPr lang="en-US" b="true" sz="2499">
                <a:solidFill>
                  <a:srgbClr val="FFFFFF"/>
                </a:solidFill>
                <a:latin typeface="Inter Medium"/>
                <a:ea typeface="Inter Medium"/>
                <a:cs typeface="Inter Medium"/>
                <a:sym typeface="Inter Medium"/>
              </a:rPr>
              <a:t>El proyecto ha pasado por distintas etapas de diseño y prueba antes de llegar al prototipo actual.</a:t>
            </a:r>
          </a:p>
        </p:txBody>
      </p:sp>
      <p:sp>
        <p:nvSpPr>
          <p:cNvPr name="TextBox 15" id="15"/>
          <p:cNvSpPr txBox="true"/>
          <p:nvPr/>
        </p:nvSpPr>
        <p:spPr>
          <a:xfrm rot="0">
            <a:off x="1199005" y="4899526"/>
            <a:ext cx="665873" cy="447261"/>
          </a:xfrm>
          <a:prstGeom prst="rect">
            <a:avLst/>
          </a:prstGeom>
        </p:spPr>
        <p:txBody>
          <a:bodyPr anchor="t" rtlCol="false" tIns="0" lIns="0" bIns="0" rIns="0">
            <a:spAutoFit/>
          </a:bodyPr>
          <a:lstStyle/>
          <a:p>
            <a:pPr algn="ctr">
              <a:lnSpc>
                <a:spcPts val="3599"/>
              </a:lnSpc>
              <a:spcBef>
                <a:spcPct val="0"/>
              </a:spcBef>
            </a:pPr>
            <a:r>
              <a:rPr lang="en-US" b="true" sz="2999">
                <a:solidFill>
                  <a:srgbClr val="222222"/>
                </a:solidFill>
                <a:latin typeface="Black Mango Semi-Bold"/>
                <a:ea typeface="Black Mango Semi-Bold"/>
                <a:cs typeface="Black Mango Semi-Bold"/>
                <a:sym typeface="Black Mango Semi-Bold"/>
              </a:rPr>
              <a:t>0.1 </a:t>
            </a:r>
          </a:p>
        </p:txBody>
      </p:sp>
      <p:sp>
        <p:nvSpPr>
          <p:cNvPr name="TextBox 16" id="16"/>
          <p:cNvSpPr txBox="true"/>
          <p:nvPr/>
        </p:nvSpPr>
        <p:spPr>
          <a:xfrm rot="0">
            <a:off x="2187010" y="4588928"/>
            <a:ext cx="15072290" cy="1068457"/>
          </a:xfrm>
          <a:prstGeom prst="rect">
            <a:avLst/>
          </a:prstGeom>
        </p:spPr>
        <p:txBody>
          <a:bodyPr anchor="t" rtlCol="false" tIns="0" lIns="0" bIns="0" rIns="0">
            <a:spAutoFit/>
          </a:bodyPr>
          <a:lstStyle/>
          <a:p>
            <a:pPr algn="just">
              <a:lnSpc>
                <a:spcPts val="2879"/>
              </a:lnSpc>
              <a:spcBef>
                <a:spcPct val="0"/>
              </a:spcBef>
            </a:pPr>
            <a:r>
              <a:rPr lang="en-US" sz="2399">
                <a:solidFill>
                  <a:srgbClr val="222222"/>
                </a:solidFill>
                <a:latin typeface="Inter"/>
                <a:ea typeface="Inter"/>
                <a:cs typeface="Inter"/>
                <a:sym typeface="Inter"/>
              </a:rPr>
              <a:t>Pastillero de forma redonda, con un sistema de funcionamiento más complejo, el mecanismo era más complicado de implementar y, además, al imprimir el primer prototipo, el tamaño resultó mayor de lo esperado y no cumplía con nuestras expectativas de portabilidad.</a:t>
            </a:r>
          </a:p>
        </p:txBody>
      </p:sp>
      <p:sp>
        <p:nvSpPr>
          <p:cNvPr name="TextBox 17" id="17"/>
          <p:cNvSpPr txBox="true"/>
          <p:nvPr/>
        </p:nvSpPr>
        <p:spPr>
          <a:xfrm rot="0">
            <a:off x="2187010" y="5872612"/>
            <a:ext cx="15072290" cy="712304"/>
          </a:xfrm>
          <a:prstGeom prst="rect">
            <a:avLst/>
          </a:prstGeom>
        </p:spPr>
        <p:txBody>
          <a:bodyPr anchor="t" rtlCol="false" tIns="0" lIns="0" bIns="0" rIns="0">
            <a:spAutoFit/>
          </a:bodyPr>
          <a:lstStyle/>
          <a:p>
            <a:pPr algn="just">
              <a:lnSpc>
                <a:spcPts val="2879"/>
              </a:lnSpc>
              <a:spcBef>
                <a:spcPct val="0"/>
              </a:spcBef>
            </a:pPr>
            <a:r>
              <a:rPr lang="en-US" sz="2400">
                <a:solidFill>
                  <a:srgbClr val="222222"/>
                </a:solidFill>
                <a:latin typeface="Inter"/>
                <a:ea typeface="Inter"/>
                <a:cs typeface="Inter"/>
                <a:sym typeface="Inter"/>
              </a:rPr>
              <a:t>Prototipo de estructura rectangular, más simple, compacta y fácil de fabricar. Desde ahí se realizaron distintas modificaciones para mejorar tanto su funcionamiento como su forma.</a:t>
            </a:r>
          </a:p>
        </p:txBody>
      </p:sp>
      <p:sp>
        <p:nvSpPr>
          <p:cNvPr name="TextBox 18" id="18"/>
          <p:cNvSpPr txBox="true"/>
          <p:nvPr/>
        </p:nvSpPr>
        <p:spPr>
          <a:xfrm rot="0">
            <a:off x="2187010" y="6861141"/>
            <a:ext cx="15072290" cy="1068457"/>
          </a:xfrm>
          <a:prstGeom prst="rect">
            <a:avLst/>
          </a:prstGeom>
        </p:spPr>
        <p:txBody>
          <a:bodyPr anchor="t" rtlCol="false" tIns="0" lIns="0" bIns="0" rIns="0">
            <a:spAutoFit/>
          </a:bodyPr>
          <a:lstStyle/>
          <a:p>
            <a:pPr algn="l" marL="518158" indent="-259079" lvl="1">
              <a:lnSpc>
                <a:spcPts val="2879"/>
              </a:lnSpc>
              <a:spcBef>
                <a:spcPct val="0"/>
              </a:spcBef>
              <a:buFont typeface="Arial"/>
              <a:buChar char="•"/>
            </a:pPr>
            <a:r>
              <a:rPr lang="en-US" sz="2399">
                <a:solidFill>
                  <a:srgbClr val="222222"/>
                </a:solidFill>
                <a:latin typeface="Inter"/>
                <a:ea typeface="Inter"/>
                <a:cs typeface="Inter"/>
                <a:sym typeface="Inter"/>
              </a:rPr>
              <a:t>R</a:t>
            </a:r>
            <a:r>
              <a:rPr lang="en-US" sz="2399">
                <a:solidFill>
                  <a:srgbClr val="222222"/>
                </a:solidFill>
                <a:latin typeface="Inter"/>
                <a:ea typeface="Inter"/>
                <a:cs typeface="Inter"/>
                <a:sym typeface="Inter"/>
              </a:rPr>
              <a:t>educción de la altura del dispositivo. En las primeras versiones, el pastillero era considerablemente más alto debido al espacio destinado a la electrónica. Esto afectaba su portabilidad, por lo que se fue ajustando progresivamente hasta llegar a un diseño de aproximadamente 3 cm de alto.</a:t>
            </a:r>
          </a:p>
        </p:txBody>
      </p:sp>
      <p:sp>
        <p:nvSpPr>
          <p:cNvPr name="TextBox 19" id="19"/>
          <p:cNvSpPr txBox="true"/>
          <p:nvPr/>
        </p:nvSpPr>
        <p:spPr>
          <a:xfrm rot="0">
            <a:off x="2187010" y="8072473"/>
            <a:ext cx="15072290" cy="1780761"/>
          </a:xfrm>
          <a:prstGeom prst="rect">
            <a:avLst/>
          </a:prstGeom>
        </p:spPr>
        <p:txBody>
          <a:bodyPr anchor="t" rtlCol="false" tIns="0" lIns="0" bIns="0" rIns="0">
            <a:spAutoFit/>
          </a:bodyPr>
          <a:lstStyle/>
          <a:p>
            <a:pPr algn="l" marL="518158" indent="-259079" lvl="1">
              <a:lnSpc>
                <a:spcPts val="2879"/>
              </a:lnSpc>
              <a:buFont typeface="Arial"/>
              <a:buChar char="•"/>
            </a:pPr>
            <a:r>
              <a:rPr lang="en-US" sz="2399">
                <a:solidFill>
                  <a:srgbClr val="222222"/>
                </a:solidFill>
                <a:latin typeface="Inter"/>
                <a:ea typeface="Inter"/>
                <a:cs typeface="Inter"/>
                <a:sym typeface="Inter"/>
              </a:rPr>
              <a:t>Modelado en OpenSCAD también se detectaron problemas en el movimiento de las tapas. En algunas versiones, al simular la apertura, estas se cruzaban o rotaban desde un punto incorrecto. Para solucionarlo, se redefinió el eje de giro de cada tapa para que coincidiera correctamente con la línea central de las bisagras.</a:t>
            </a:r>
          </a:p>
          <a:p>
            <a:pPr algn="just">
              <a:lnSpc>
                <a:spcPts val="2879"/>
              </a:lnSpc>
              <a:spcBef>
                <a:spcPct val="0"/>
              </a:spcBef>
            </a:pPr>
          </a:p>
        </p:txBody>
      </p:sp>
      <p:sp>
        <p:nvSpPr>
          <p:cNvPr name="TextBox 20" id="20"/>
          <p:cNvSpPr txBox="true"/>
          <p:nvPr/>
        </p:nvSpPr>
        <p:spPr>
          <a:xfrm rot="0">
            <a:off x="1073011" y="5991467"/>
            <a:ext cx="917862" cy="465068"/>
          </a:xfrm>
          <a:prstGeom prst="rect">
            <a:avLst/>
          </a:prstGeom>
        </p:spPr>
        <p:txBody>
          <a:bodyPr anchor="t" rtlCol="false" tIns="0" lIns="0" bIns="0" rIns="0">
            <a:spAutoFit/>
          </a:bodyPr>
          <a:lstStyle/>
          <a:p>
            <a:pPr algn="ctr">
              <a:lnSpc>
                <a:spcPts val="3600"/>
              </a:lnSpc>
              <a:spcBef>
                <a:spcPct val="0"/>
              </a:spcBef>
            </a:pPr>
            <a:r>
              <a:rPr lang="en-US" b="true" sz="3000">
                <a:solidFill>
                  <a:srgbClr val="222222"/>
                </a:solidFill>
                <a:latin typeface="Black Mango Semi-Bold"/>
                <a:ea typeface="Black Mango Semi-Bold"/>
                <a:cs typeface="Black Mango Semi-Bold"/>
                <a:sym typeface="Black Mango Semi-Bold"/>
              </a:rPr>
              <a:t>0.2</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B6E0D4"/>
        </a:solidFill>
      </p:bgPr>
    </p:bg>
    <p:spTree>
      <p:nvGrpSpPr>
        <p:cNvPr id="1" name=""/>
        <p:cNvGrpSpPr/>
        <p:nvPr/>
      </p:nvGrpSpPr>
      <p:grpSpPr>
        <a:xfrm>
          <a:off x="0" y="0"/>
          <a:ext cx="0" cy="0"/>
          <a:chOff x="0" y="0"/>
          <a:chExt cx="0" cy="0"/>
        </a:xfrm>
      </p:grpSpPr>
      <p:pic>
        <p:nvPicPr>
          <p:cNvPr name="Picture 2" id="2">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12103594" y="564739"/>
            <a:ext cx="4231556" cy="9157522"/>
          </a:xfrm>
          <a:prstGeom prst="rect">
            <a:avLst/>
          </a:prstGeom>
        </p:spPr>
      </p:pic>
      <p:sp>
        <p:nvSpPr>
          <p:cNvPr name="TextBox 3" id="3"/>
          <p:cNvSpPr txBox="true"/>
          <p:nvPr/>
        </p:nvSpPr>
        <p:spPr>
          <a:xfrm rot="0">
            <a:off x="1028700" y="1114425"/>
            <a:ext cx="10104530" cy="1905642"/>
          </a:xfrm>
          <a:prstGeom prst="rect">
            <a:avLst/>
          </a:prstGeom>
        </p:spPr>
        <p:txBody>
          <a:bodyPr anchor="t" rtlCol="false" tIns="0" lIns="0" bIns="0" rIns="0">
            <a:spAutoFit/>
          </a:bodyPr>
          <a:lstStyle/>
          <a:p>
            <a:pPr algn="l">
              <a:lnSpc>
                <a:spcPts val="7420"/>
              </a:lnSpc>
            </a:pPr>
            <a:r>
              <a:rPr lang="en-US" sz="7000" b="true">
                <a:solidFill>
                  <a:srgbClr val="222222"/>
                </a:solidFill>
                <a:latin typeface="Black Mango Bold"/>
                <a:ea typeface="Black Mango Bold"/>
                <a:cs typeface="Black Mango Bold"/>
                <a:sym typeface="Black Mango Bold"/>
              </a:rPr>
              <a:t>Documentación para posible replica PillUp</a:t>
            </a:r>
          </a:p>
        </p:txBody>
      </p:sp>
      <p:sp>
        <p:nvSpPr>
          <p:cNvPr name="TextBox 4" id="4"/>
          <p:cNvSpPr txBox="true"/>
          <p:nvPr/>
        </p:nvSpPr>
        <p:spPr>
          <a:xfrm rot="0">
            <a:off x="1028700" y="3740260"/>
            <a:ext cx="9862709" cy="5866257"/>
          </a:xfrm>
          <a:prstGeom prst="rect">
            <a:avLst/>
          </a:prstGeom>
        </p:spPr>
        <p:txBody>
          <a:bodyPr anchor="t" rtlCol="false" tIns="0" lIns="0" bIns="0" rIns="0">
            <a:spAutoFit/>
          </a:bodyPr>
          <a:lstStyle/>
          <a:p>
            <a:pPr algn="just" marL="561339" indent="-280669" lvl="1">
              <a:lnSpc>
                <a:spcPts val="3353"/>
              </a:lnSpc>
              <a:buFont typeface="Arial"/>
              <a:buChar char="•"/>
            </a:pPr>
            <a:r>
              <a:rPr lang="en-US" sz="2599">
                <a:solidFill>
                  <a:srgbClr val="222222"/>
                </a:solidFill>
                <a:latin typeface="Inter"/>
                <a:ea typeface="Inter"/>
                <a:cs typeface="Inter"/>
                <a:sym typeface="Inter"/>
              </a:rPr>
              <a:t>Validación de Software (App Móvil): La lógica central opera desde una aplicación móvil que gestiona los horarios y el stock, abordando directamente el problema de supervisión.</a:t>
            </a:r>
          </a:p>
          <a:p>
            <a:pPr algn="just">
              <a:lnSpc>
                <a:spcPts val="3353"/>
              </a:lnSpc>
            </a:pPr>
          </a:p>
          <a:p>
            <a:pPr algn="just" marL="561339" indent="-280669" lvl="1">
              <a:lnSpc>
                <a:spcPts val="3353"/>
              </a:lnSpc>
              <a:buFont typeface="Arial"/>
              <a:buChar char="•"/>
            </a:pPr>
            <a:r>
              <a:rPr lang="en-US" sz="2599">
                <a:solidFill>
                  <a:srgbClr val="222222"/>
                </a:solidFill>
                <a:latin typeface="Inter"/>
                <a:ea typeface="Inter"/>
                <a:cs typeface="Inter"/>
                <a:sym typeface="Inter"/>
              </a:rPr>
              <a:t>Diseño Físico Impreso en 3D: Se validó un encapsulado rectangular compacto (10x8x3 cm) con 8 compartimientos articulados, demostrando viabilidad mecánica y ergonomía.</a:t>
            </a:r>
          </a:p>
          <a:p>
            <a:pPr algn="just">
              <a:lnSpc>
                <a:spcPts val="3353"/>
              </a:lnSpc>
            </a:pPr>
          </a:p>
          <a:p>
            <a:pPr algn="just" marL="561339" indent="-280669" lvl="1">
              <a:lnSpc>
                <a:spcPts val="3353"/>
              </a:lnSpc>
              <a:buFont typeface="Arial"/>
              <a:buChar char="•"/>
            </a:pPr>
            <a:r>
              <a:rPr lang="en-US" sz="2599">
                <a:solidFill>
                  <a:srgbClr val="222222"/>
                </a:solidFill>
                <a:latin typeface="Inter"/>
                <a:ea typeface="Inter"/>
                <a:cs typeface="Inter"/>
                <a:sym typeface="Inter"/>
              </a:rPr>
              <a:t>Proyección de Código y Circuito IoT: La lógica física está estructurada en C++ para ESP8266, empleando eventos no bloqueantes (millis()) y conectividad Wi-Fi, lista para ser ensamblada en la próxima fase</a:t>
            </a:r>
          </a:p>
          <a:p>
            <a:pPr algn="just" marL="0" indent="0" lvl="0">
              <a:lnSpc>
                <a:spcPts val="3353"/>
              </a:lnSpc>
            </a:pPr>
          </a:p>
        </p:txBody>
      </p:sp>
    </p:spTree>
  </p:cSld>
  <p:clrMapOvr>
    <a:masterClrMapping/>
  </p:clrMapOvr>
  <p:timing>
    <p:tnLst>
      <p:par>
        <p:cTn dur="indefinite" restart="never" nodeType="tmRoot">
          <p:childTnLst>
            <p:video>
              <p:cMediaNode vol="100000">
                <p:cTn fill="hold" display="false">
                  <p:stCondLst>
                    <p:cond delay="indefinite"/>
                  </p:stCondLst>
                </p:cTn>
                <p:tgtEl>
                  <p:spTgt spid="2"/>
                </p:tgtEl>
              </p:cMediaNode>
            </p:video>
          </p:childTnLst>
        </p:cTn>
      </p:par>
    </p:tnLst>
  </p:timing>
</p:sld>
</file>

<file path=ppt/slides/slide9.xml><?xml version="1.0" encoding="utf-8"?>
<p:sld xmlns:p="http://schemas.openxmlformats.org/presentationml/2006/main" xmlns:a="http://schemas.openxmlformats.org/drawingml/2006/main">
  <p:cSld>
    <p:bg>
      <p:bgPr>
        <a:solidFill>
          <a:srgbClr val="F4F4F4"/>
        </a:solidFill>
      </p:bgPr>
    </p:bg>
    <p:spTree>
      <p:nvGrpSpPr>
        <p:cNvPr id="1" name=""/>
        <p:cNvGrpSpPr/>
        <p:nvPr/>
      </p:nvGrpSpPr>
      <p:grpSpPr>
        <a:xfrm>
          <a:off x="0" y="0"/>
          <a:ext cx="0" cy="0"/>
          <a:chOff x="0" y="0"/>
          <a:chExt cx="0" cy="0"/>
        </a:xfrm>
      </p:grpSpPr>
      <p:sp>
        <p:nvSpPr>
          <p:cNvPr name="TextBox 2" id="2"/>
          <p:cNvSpPr txBox="true"/>
          <p:nvPr/>
        </p:nvSpPr>
        <p:spPr>
          <a:xfrm rot="0">
            <a:off x="3318893" y="1066800"/>
            <a:ext cx="11650213" cy="1018043"/>
          </a:xfrm>
          <a:prstGeom prst="rect">
            <a:avLst/>
          </a:prstGeom>
        </p:spPr>
        <p:txBody>
          <a:bodyPr anchor="t" rtlCol="false" tIns="0" lIns="0" bIns="0" rIns="0">
            <a:spAutoFit/>
          </a:bodyPr>
          <a:lstStyle/>
          <a:p>
            <a:pPr algn="ctr">
              <a:lnSpc>
                <a:spcPts val="7909"/>
              </a:lnSpc>
            </a:pPr>
            <a:r>
              <a:rPr lang="en-US" sz="6999" b="true">
                <a:solidFill>
                  <a:srgbClr val="222222"/>
                </a:solidFill>
                <a:latin typeface="Black Mango Bold"/>
                <a:ea typeface="Black Mango Bold"/>
                <a:cs typeface="Black Mango Bold"/>
                <a:sym typeface="Black Mango Bold"/>
              </a:rPr>
              <a:t>Que faltaria por resolver </a:t>
            </a:r>
          </a:p>
        </p:txBody>
      </p:sp>
      <p:grpSp>
        <p:nvGrpSpPr>
          <p:cNvPr name="Group 3" id="3"/>
          <p:cNvGrpSpPr/>
          <p:nvPr/>
        </p:nvGrpSpPr>
        <p:grpSpPr>
          <a:xfrm rot="0">
            <a:off x="3764083" y="3058465"/>
            <a:ext cx="12722288" cy="1612911"/>
            <a:chOff x="0" y="0"/>
            <a:chExt cx="2401986" cy="304520"/>
          </a:xfrm>
        </p:grpSpPr>
        <p:sp>
          <p:nvSpPr>
            <p:cNvPr name="Freeform 4" id="4"/>
            <p:cNvSpPr/>
            <p:nvPr/>
          </p:nvSpPr>
          <p:spPr>
            <a:xfrm flipH="false" flipV="false" rot="0">
              <a:off x="0" y="0"/>
              <a:ext cx="2401986" cy="304520"/>
            </a:xfrm>
            <a:custGeom>
              <a:avLst/>
              <a:gdLst/>
              <a:ahLst/>
              <a:cxnLst/>
              <a:rect r="r" b="b" t="t" l="l"/>
              <a:pathLst>
                <a:path h="304520" w="2401986">
                  <a:moveTo>
                    <a:pt x="60853" y="0"/>
                  </a:moveTo>
                  <a:lnTo>
                    <a:pt x="2341133" y="0"/>
                  </a:lnTo>
                  <a:cubicBezTo>
                    <a:pt x="2374741" y="0"/>
                    <a:pt x="2401986" y="27245"/>
                    <a:pt x="2401986" y="60853"/>
                  </a:cubicBezTo>
                  <a:lnTo>
                    <a:pt x="2401986" y="243667"/>
                  </a:lnTo>
                  <a:cubicBezTo>
                    <a:pt x="2401986" y="277275"/>
                    <a:pt x="2374741" y="304520"/>
                    <a:pt x="2341133" y="304520"/>
                  </a:cubicBezTo>
                  <a:lnTo>
                    <a:pt x="60853" y="304520"/>
                  </a:lnTo>
                  <a:cubicBezTo>
                    <a:pt x="27245" y="304520"/>
                    <a:pt x="0" y="277275"/>
                    <a:pt x="0" y="243667"/>
                  </a:cubicBezTo>
                  <a:lnTo>
                    <a:pt x="0" y="60853"/>
                  </a:lnTo>
                  <a:cubicBezTo>
                    <a:pt x="0" y="27245"/>
                    <a:pt x="27245" y="0"/>
                    <a:pt x="60853" y="0"/>
                  </a:cubicBezTo>
                  <a:close/>
                </a:path>
              </a:pathLst>
            </a:custGeom>
            <a:solidFill>
              <a:srgbClr val="B6E0D4"/>
            </a:solidFill>
            <a:ln cap="rnd">
              <a:noFill/>
              <a:prstDash val="solid"/>
              <a:round/>
            </a:ln>
          </p:spPr>
        </p:sp>
        <p:sp>
          <p:nvSpPr>
            <p:cNvPr name="TextBox 5" id="5"/>
            <p:cNvSpPr txBox="true"/>
            <p:nvPr/>
          </p:nvSpPr>
          <p:spPr>
            <a:xfrm>
              <a:off x="0" y="0"/>
              <a:ext cx="2401986" cy="304520"/>
            </a:xfrm>
            <a:prstGeom prst="rect">
              <a:avLst/>
            </a:prstGeom>
          </p:spPr>
          <p:txBody>
            <a:bodyPr anchor="ctr" rtlCol="false" tIns="50800" lIns="50800" bIns="50800" rIns="50800"/>
            <a:lstStyle/>
            <a:p>
              <a:pPr algn="ctr" marL="0" indent="0" lvl="0">
                <a:lnSpc>
                  <a:spcPts val="2879"/>
                </a:lnSpc>
                <a:spcBef>
                  <a:spcPct val="0"/>
                </a:spcBef>
              </a:pPr>
            </a:p>
          </p:txBody>
        </p:sp>
      </p:grpSp>
      <p:sp>
        <p:nvSpPr>
          <p:cNvPr name="TextBox 6" id="6"/>
          <p:cNvSpPr txBox="true"/>
          <p:nvPr/>
        </p:nvSpPr>
        <p:spPr>
          <a:xfrm rot="0">
            <a:off x="4430438" y="3251641"/>
            <a:ext cx="11588363" cy="1206748"/>
          </a:xfrm>
          <a:prstGeom prst="rect">
            <a:avLst/>
          </a:prstGeom>
        </p:spPr>
        <p:txBody>
          <a:bodyPr anchor="t" rtlCol="false" tIns="0" lIns="0" bIns="0" rIns="0">
            <a:spAutoFit/>
          </a:bodyPr>
          <a:lstStyle/>
          <a:p>
            <a:pPr algn="l" marL="0" indent="0" lvl="0">
              <a:lnSpc>
                <a:spcPts val="3220"/>
              </a:lnSpc>
            </a:pPr>
            <a:r>
              <a:rPr lang="en-US" b="true" sz="2300">
                <a:solidFill>
                  <a:srgbClr val="222222"/>
                </a:solidFill>
                <a:latin typeface="Inter Medium"/>
                <a:ea typeface="Inter Medium"/>
                <a:cs typeface="Inter Medium"/>
                <a:sym typeface="Inter Medium"/>
              </a:rPr>
              <a:t> Diseño de Anexo Estructural: Modelar e imprimir una segunda pieza (base inferior) exclusiva para alojar el microcontrolador y los cables. Esto evitará generar tensión mecánica en las bisagras y protegerá el área de las pastillas.</a:t>
            </a:r>
          </a:p>
        </p:txBody>
      </p:sp>
      <p:grpSp>
        <p:nvGrpSpPr>
          <p:cNvPr name="Group 7" id="7"/>
          <p:cNvGrpSpPr/>
          <p:nvPr/>
        </p:nvGrpSpPr>
        <p:grpSpPr>
          <a:xfrm rot="0">
            <a:off x="1801629" y="3134493"/>
            <a:ext cx="1488671" cy="148867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B6E0D4"/>
            </a:solidFill>
            <a:ln cap="rnd">
              <a:noFill/>
              <a:prstDash val="solid"/>
              <a:round/>
            </a:ln>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0" id="10"/>
          <p:cNvSpPr txBox="true"/>
          <p:nvPr/>
        </p:nvSpPr>
        <p:spPr>
          <a:xfrm rot="0">
            <a:off x="2053534" y="3488048"/>
            <a:ext cx="984860" cy="789360"/>
          </a:xfrm>
          <a:prstGeom prst="rect">
            <a:avLst/>
          </a:prstGeom>
        </p:spPr>
        <p:txBody>
          <a:bodyPr anchor="t" rtlCol="false" tIns="0" lIns="0" bIns="0" rIns="0">
            <a:spAutoFit/>
          </a:bodyPr>
          <a:lstStyle/>
          <a:p>
            <a:pPr algn="ctr" marL="0" indent="0" lvl="0">
              <a:lnSpc>
                <a:spcPts val="6214"/>
              </a:lnSpc>
              <a:spcBef>
                <a:spcPct val="0"/>
              </a:spcBef>
            </a:pPr>
            <a:r>
              <a:rPr lang="en-US" b="true" sz="5499" strike="noStrike" u="none">
                <a:solidFill>
                  <a:srgbClr val="222222"/>
                </a:solidFill>
                <a:latin typeface="Black Mango Bold"/>
                <a:ea typeface="Black Mango Bold"/>
                <a:cs typeface="Black Mango Bold"/>
                <a:sym typeface="Black Mango Bold"/>
              </a:rPr>
              <a:t>01</a:t>
            </a:r>
          </a:p>
        </p:txBody>
      </p:sp>
      <p:grpSp>
        <p:nvGrpSpPr>
          <p:cNvPr name="Group 11" id="11"/>
          <p:cNvGrpSpPr/>
          <p:nvPr/>
        </p:nvGrpSpPr>
        <p:grpSpPr>
          <a:xfrm rot="0">
            <a:off x="3801844" y="4793897"/>
            <a:ext cx="12684527" cy="1679863"/>
            <a:chOff x="0" y="0"/>
            <a:chExt cx="2394857" cy="317161"/>
          </a:xfrm>
        </p:grpSpPr>
        <p:sp>
          <p:nvSpPr>
            <p:cNvPr name="Freeform 12" id="12"/>
            <p:cNvSpPr/>
            <p:nvPr/>
          </p:nvSpPr>
          <p:spPr>
            <a:xfrm flipH="false" flipV="false" rot="0">
              <a:off x="0" y="0"/>
              <a:ext cx="2394857" cy="317161"/>
            </a:xfrm>
            <a:custGeom>
              <a:avLst/>
              <a:gdLst/>
              <a:ahLst/>
              <a:cxnLst/>
              <a:rect r="r" b="b" t="t" l="l"/>
              <a:pathLst>
                <a:path h="317161" w="2394857">
                  <a:moveTo>
                    <a:pt x="61034" y="0"/>
                  </a:moveTo>
                  <a:lnTo>
                    <a:pt x="2333822" y="0"/>
                  </a:lnTo>
                  <a:cubicBezTo>
                    <a:pt x="2367531" y="0"/>
                    <a:pt x="2394857" y="27326"/>
                    <a:pt x="2394857" y="61034"/>
                  </a:cubicBezTo>
                  <a:lnTo>
                    <a:pt x="2394857" y="256126"/>
                  </a:lnTo>
                  <a:cubicBezTo>
                    <a:pt x="2394857" y="272314"/>
                    <a:pt x="2388426" y="287838"/>
                    <a:pt x="2376980" y="299284"/>
                  </a:cubicBezTo>
                  <a:cubicBezTo>
                    <a:pt x="2365534" y="310730"/>
                    <a:pt x="2350010" y="317161"/>
                    <a:pt x="2333822" y="317161"/>
                  </a:cubicBezTo>
                  <a:lnTo>
                    <a:pt x="61034" y="317161"/>
                  </a:lnTo>
                  <a:cubicBezTo>
                    <a:pt x="44847" y="317161"/>
                    <a:pt x="29323" y="310730"/>
                    <a:pt x="17877" y="299284"/>
                  </a:cubicBezTo>
                  <a:cubicBezTo>
                    <a:pt x="6430" y="287838"/>
                    <a:pt x="0" y="272314"/>
                    <a:pt x="0" y="256126"/>
                  </a:cubicBezTo>
                  <a:lnTo>
                    <a:pt x="0" y="61034"/>
                  </a:lnTo>
                  <a:cubicBezTo>
                    <a:pt x="0" y="44847"/>
                    <a:pt x="6430" y="29323"/>
                    <a:pt x="17877" y="17877"/>
                  </a:cubicBezTo>
                  <a:cubicBezTo>
                    <a:pt x="29323" y="6430"/>
                    <a:pt x="44847" y="0"/>
                    <a:pt x="61034" y="0"/>
                  </a:cubicBezTo>
                  <a:close/>
                </a:path>
              </a:pathLst>
            </a:custGeom>
            <a:solidFill>
              <a:srgbClr val="B6E0D4"/>
            </a:solidFill>
            <a:ln cap="rnd">
              <a:noFill/>
              <a:prstDash val="solid"/>
              <a:round/>
            </a:ln>
          </p:spPr>
        </p:sp>
        <p:sp>
          <p:nvSpPr>
            <p:cNvPr name="TextBox 13" id="13"/>
            <p:cNvSpPr txBox="true"/>
            <p:nvPr/>
          </p:nvSpPr>
          <p:spPr>
            <a:xfrm>
              <a:off x="0" y="-38100"/>
              <a:ext cx="2394857" cy="355261"/>
            </a:xfrm>
            <a:prstGeom prst="rect">
              <a:avLst/>
            </a:prstGeom>
          </p:spPr>
          <p:txBody>
            <a:bodyPr anchor="ctr" rtlCol="false" tIns="50800" lIns="50800" bIns="50800" rIns="50800"/>
            <a:lstStyle/>
            <a:p>
              <a:pPr algn="l" marL="0" indent="0" lvl="0">
                <a:lnSpc>
                  <a:spcPts val="1679"/>
                </a:lnSpc>
                <a:spcBef>
                  <a:spcPct val="0"/>
                </a:spcBef>
              </a:pPr>
            </a:p>
          </p:txBody>
        </p:sp>
      </p:grpSp>
      <p:grpSp>
        <p:nvGrpSpPr>
          <p:cNvPr name="Group 14" id="14"/>
          <p:cNvGrpSpPr/>
          <p:nvPr/>
        </p:nvGrpSpPr>
        <p:grpSpPr>
          <a:xfrm rot="0">
            <a:off x="1801629" y="4889493"/>
            <a:ext cx="1488671" cy="1488671"/>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B6E0D4"/>
            </a:solidFill>
            <a:ln cap="rnd">
              <a:noFill/>
              <a:prstDash val="solid"/>
              <a:round/>
            </a:ln>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7" id="17"/>
          <p:cNvSpPr txBox="true"/>
          <p:nvPr/>
        </p:nvSpPr>
        <p:spPr>
          <a:xfrm rot="0">
            <a:off x="1801629" y="5237886"/>
            <a:ext cx="1488671" cy="789360"/>
          </a:xfrm>
          <a:prstGeom prst="rect">
            <a:avLst/>
          </a:prstGeom>
        </p:spPr>
        <p:txBody>
          <a:bodyPr anchor="t" rtlCol="false" tIns="0" lIns="0" bIns="0" rIns="0">
            <a:spAutoFit/>
          </a:bodyPr>
          <a:lstStyle/>
          <a:p>
            <a:pPr algn="ctr" marL="0" indent="0" lvl="0">
              <a:lnSpc>
                <a:spcPts val="6214"/>
              </a:lnSpc>
              <a:spcBef>
                <a:spcPct val="0"/>
              </a:spcBef>
            </a:pPr>
            <a:r>
              <a:rPr lang="en-US" b="true" sz="5499" strike="noStrike" u="none">
                <a:solidFill>
                  <a:srgbClr val="222222"/>
                </a:solidFill>
                <a:latin typeface="Black Mango Bold"/>
                <a:ea typeface="Black Mango Bold"/>
                <a:cs typeface="Black Mango Bold"/>
                <a:sym typeface="Black Mango Bold"/>
              </a:rPr>
              <a:t>02</a:t>
            </a:r>
          </a:p>
        </p:txBody>
      </p:sp>
      <p:grpSp>
        <p:nvGrpSpPr>
          <p:cNvPr name="Group 18" id="18"/>
          <p:cNvGrpSpPr/>
          <p:nvPr/>
        </p:nvGrpSpPr>
        <p:grpSpPr>
          <a:xfrm rot="0">
            <a:off x="3764083" y="6642268"/>
            <a:ext cx="12722288" cy="1727910"/>
            <a:chOff x="0" y="0"/>
            <a:chExt cx="2401986" cy="326232"/>
          </a:xfrm>
        </p:grpSpPr>
        <p:sp>
          <p:nvSpPr>
            <p:cNvPr name="Freeform 19" id="19"/>
            <p:cNvSpPr/>
            <p:nvPr/>
          </p:nvSpPr>
          <p:spPr>
            <a:xfrm flipH="false" flipV="false" rot="0">
              <a:off x="0" y="0"/>
              <a:ext cx="2401986" cy="326232"/>
            </a:xfrm>
            <a:custGeom>
              <a:avLst/>
              <a:gdLst/>
              <a:ahLst/>
              <a:cxnLst/>
              <a:rect r="r" b="b" t="t" l="l"/>
              <a:pathLst>
                <a:path h="326232" w="2401986">
                  <a:moveTo>
                    <a:pt x="60853" y="0"/>
                  </a:moveTo>
                  <a:lnTo>
                    <a:pt x="2341133" y="0"/>
                  </a:lnTo>
                  <a:cubicBezTo>
                    <a:pt x="2374741" y="0"/>
                    <a:pt x="2401986" y="27245"/>
                    <a:pt x="2401986" y="60853"/>
                  </a:cubicBezTo>
                  <a:lnTo>
                    <a:pt x="2401986" y="265379"/>
                  </a:lnTo>
                  <a:cubicBezTo>
                    <a:pt x="2401986" y="298987"/>
                    <a:pt x="2374741" y="326232"/>
                    <a:pt x="2341133" y="326232"/>
                  </a:cubicBezTo>
                  <a:lnTo>
                    <a:pt x="60853" y="326232"/>
                  </a:lnTo>
                  <a:cubicBezTo>
                    <a:pt x="27245" y="326232"/>
                    <a:pt x="0" y="298987"/>
                    <a:pt x="0" y="265379"/>
                  </a:cubicBezTo>
                  <a:lnTo>
                    <a:pt x="0" y="60853"/>
                  </a:lnTo>
                  <a:cubicBezTo>
                    <a:pt x="0" y="27245"/>
                    <a:pt x="27245" y="0"/>
                    <a:pt x="60853" y="0"/>
                  </a:cubicBezTo>
                  <a:close/>
                </a:path>
              </a:pathLst>
            </a:custGeom>
            <a:solidFill>
              <a:srgbClr val="B6E0D4"/>
            </a:solidFill>
            <a:ln cap="rnd">
              <a:noFill/>
              <a:prstDash val="solid"/>
              <a:round/>
            </a:ln>
          </p:spPr>
        </p:sp>
        <p:sp>
          <p:nvSpPr>
            <p:cNvPr name="TextBox 20" id="20"/>
            <p:cNvSpPr txBox="true"/>
            <p:nvPr/>
          </p:nvSpPr>
          <p:spPr>
            <a:xfrm>
              <a:off x="0" y="0"/>
              <a:ext cx="2401986" cy="326232"/>
            </a:xfrm>
            <a:prstGeom prst="rect">
              <a:avLst/>
            </a:prstGeom>
          </p:spPr>
          <p:txBody>
            <a:bodyPr anchor="ctr" rtlCol="false" tIns="50800" lIns="50800" bIns="50800" rIns="50800"/>
            <a:lstStyle/>
            <a:p>
              <a:pPr algn="ctr" marL="0" indent="0" lvl="0">
                <a:lnSpc>
                  <a:spcPts val="2879"/>
                </a:lnSpc>
                <a:spcBef>
                  <a:spcPct val="0"/>
                </a:spcBef>
              </a:pPr>
            </a:p>
          </p:txBody>
        </p:sp>
      </p:grpSp>
      <p:sp>
        <p:nvSpPr>
          <p:cNvPr name="TextBox 21" id="21"/>
          <p:cNvSpPr txBox="true"/>
          <p:nvPr/>
        </p:nvSpPr>
        <p:spPr>
          <a:xfrm rot="0">
            <a:off x="4480134" y="6583808"/>
            <a:ext cx="11543089" cy="1786370"/>
          </a:xfrm>
          <a:prstGeom prst="rect">
            <a:avLst/>
          </a:prstGeom>
        </p:spPr>
        <p:txBody>
          <a:bodyPr anchor="t" rtlCol="false" tIns="0" lIns="0" bIns="0" rIns="0">
            <a:spAutoFit/>
          </a:bodyPr>
          <a:lstStyle/>
          <a:p>
            <a:pPr algn="l">
              <a:lnSpc>
                <a:spcPts val="2315"/>
              </a:lnSpc>
            </a:pPr>
          </a:p>
          <a:p>
            <a:pPr algn="l">
              <a:lnSpc>
                <a:spcPts val="3220"/>
              </a:lnSpc>
            </a:pPr>
            <a:r>
              <a:rPr lang="en-US" sz="2300" b="true">
                <a:solidFill>
                  <a:srgbClr val="222222"/>
                </a:solidFill>
                <a:latin typeface="Inter Medium"/>
                <a:ea typeface="Inter Medium"/>
                <a:cs typeface="Inter Medium"/>
                <a:sym typeface="Inter Medium"/>
              </a:rPr>
              <a:t>Integración y Testing Final: Vincular el pastillero físico ensamblado con la base de datos de la Aplicación Móvil, realizando pruebas de usuario para confirmar que las alertas bidireccionales y la actualización del inventario funcionen en tiempo real.</a:t>
            </a:r>
          </a:p>
          <a:p>
            <a:pPr algn="l" marL="0" indent="0" lvl="0">
              <a:lnSpc>
                <a:spcPts val="2315"/>
              </a:lnSpc>
            </a:pPr>
          </a:p>
        </p:txBody>
      </p:sp>
      <p:grpSp>
        <p:nvGrpSpPr>
          <p:cNvPr name="Group 22" id="22"/>
          <p:cNvGrpSpPr/>
          <p:nvPr/>
        </p:nvGrpSpPr>
        <p:grpSpPr>
          <a:xfrm rot="0">
            <a:off x="1801629" y="6642268"/>
            <a:ext cx="1488671" cy="1488671"/>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solidFill>
              <a:srgbClr val="B6E0D4"/>
            </a:solidFill>
            <a:ln cap="rnd">
              <a:noFill/>
              <a:prstDash val="solid"/>
              <a:round/>
            </a:ln>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5" id="25"/>
          <p:cNvSpPr txBox="true"/>
          <p:nvPr/>
        </p:nvSpPr>
        <p:spPr>
          <a:xfrm rot="0">
            <a:off x="2053534" y="6978239"/>
            <a:ext cx="984860" cy="789360"/>
          </a:xfrm>
          <a:prstGeom prst="rect">
            <a:avLst/>
          </a:prstGeom>
        </p:spPr>
        <p:txBody>
          <a:bodyPr anchor="t" rtlCol="false" tIns="0" lIns="0" bIns="0" rIns="0">
            <a:spAutoFit/>
          </a:bodyPr>
          <a:lstStyle/>
          <a:p>
            <a:pPr algn="ctr" marL="0" indent="0" lvl="0">
              <a:lnSpc>
                <a:spcPts val="6214"/>
              </a:lnSpc>
              <a:spcBef>
                <a:spcPct val="0"/>
              </a:spcBef>
            </a:pPr>
            <a:r>
              <a:rPr lang="en-US" b="true" sz="5499" strike="noStrike" u="none">
                <a:solidFill>
                  <a:srgbClr val="222222"/>
                </a:solidFill>
                <a:latin typeface="Black Mango Bold"/>
                <a:ea typeface="Black Mango Bold"/>
                <a:cs typeface="Black Mango Bold"/>
                <a:sym typeface="Black Mango Bold"/>
              </a:rPr>
              <a:t>03</a:t>
            </a:r>
          </a:p>
        </p:txBody>
      </p:sp>
      <p:sp>
        <p:nvSpPr>
          <p:cNvPr name="TextBox 26" id="26"/>
          <p:cNvSpPr txBox="true"/>
          <p:nvPr/>
        </p:nvSpPr>
        <p:spPr>
          <a:xfrm rot="0">
            <a:off x="4480134" y="5435440"/>
            <a:ext cx="11420197" cy="356152"/>
          </a:xfrm>
          <a:prstGeom prst="rect">
            <a:avLst/>
          </a:prstGeom>
        </p:spPr>
        <p:txBody>
          <a:bodyPr anchor="t" rtlCol="false" tIns="0" lIns="0" bIns="0" rIns="0">
            <a:spAutoFit/>
          </a:bodyPr>
          <a:lstStyle/>
          <a:p>
            <a:pPr algn="ctr">
              <a:lnSpc>
                <a:spcPts val="2879"/>
              </a:lnSpc>
              <a:spcBef>
                <a:spcPct val="0"/>
              </a:spcBef>
            </a:pPr>
            <a:r>
              <a:rPr lang="en-US" sz="2399">
                <a:solidFill>
                  <a:srgbClr val="222222"/>
                </a:solidFill>
                <a:latin typeface="Inter"/>
                <a:ea typeface="Inter"/>
                <a:cs typeface="Inter"/>
                <a:sym typeface="Inter"/>
              </a:rPr>
              <a:t>Corroborar conecciones de sonidos y luces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1369370">
            <a:off x="12920391" y="4146330"/>
            <a:ext cx="3317279" cy="2889049"/>
          </a:xfrm>
          <a:custGeom>
            <a:avLst/>
            <a:gdLst/>
            <a:ahLst/>
            <a:cxnLst/>
            <a:rect r="r" b="b" t="t" l="l"/>
            <a:pathLst>
              <a:path h="2889049" w="3317279">
                <a:moveTo>
                  <a:pt x="0" y="0"/>
                </a:moveTo>
                <a:lnTo>
                  <a:pt x="3317279" y="0"/>
                </a:lnTo>
                <a:lnTo>
                  <a:pt x="3317279" y="2889049"/>
                </a:lnTo>
                <a:lnTo>
                  <a:pt x="0" y="28890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377286">
            <a:off x="14689639" y="7451008"/>
            <a:ext cx="2255307" cy="1025139"/>
          </a:xfrm>
          <a:custGeom>
            <a:avLst/>
            <a:gdLst/>
            <a:ahLst/>
            <a:cxnLst/>
            <a:rect r="r" b="b" t="t" l="l"/>
            <a:pathLst>
              <a:path h="1025139" w="2255307">
                <a:moveTo>
                  <a:pt x="0" y="0"/>
                </a:moveTo>
                <a:lnTo>
                  <a:pt x="2255307" y="0"/>
                </a:lnTo>
                <a:lnTo>
                  <a:pt x="2255307" y="1025139"/>
                </a:lnTo>
                <a:lnTo>
                  <a:pt x="0" y="102513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618336" y="327100"/>
            <a:ext cx="4002088" cy="3660092"/>
          </a:xfrm>
          <a:custGeom>
            <a:avLst/>
            <a:gdLst/>
            <a:ahLst/>
            <a:cxnLst/>
            <a:rect r="r" b="b" t="t" l="l"/>
            <a:pathLst>
              <a:path h="3660092" w="4002088">
                <a:moveTo>
                  <a:pt x="0" y="0"/>
                </a:moveTo>
                <a:lnTo>
                  <a:pt x="4002088" y="0"/>
                </a:lnTo>
                <a:lnTo>
                  <a:pt x="4002088" y="3660091"/>
                </a:lnTo>
                <a:lnTo>
                  <a:pt x="0" y="366009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592491">
            <a:off x="16595406" y="1363703"/>
            <a:ext cx="2347714" cy="3596777"/>
          </a:xfrm>
          <a:custGeom>
            <a:avLst/>
            <a:gdLst/>
            <a:ahLst/>
            <a:cxnLst/>
            <a:rect r="r" b="b" t="t" l="l"/>
            <a:pathLst>
              <a:path h="3596777" w="2347714">
                <a:moveTo>
                  <a:pt x="0" y="0"/>
                </a:moveTo>
                <a:lnTo>
                  <a:pt x="2347714" y="0"/>
                </a:lnTo>
                <a:lnTo>
                  <a:pt x="2347714" y="3596776"/>
                </a:lnTo>
                <a:lnTo>
                  <a:pt x="0" y="359677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14976764" y="-2082955"/>
            <a:ext cx="3573211" cy="3397799"/>
          </a:xfrm>
          <a:custGeom>
            <a:avLst/>
            <a:gdLst/>
            <a:ahLst/>
            <a:cxnLst/>
            <a:rect r="r" b="b" t="t" l="l"/>
            <a:pathLst>
              <a:path h="3397799" w="3573211">
                <a:moveTo>
                  <a:pt x="0" y="0"/>
                </a:moveTo>
                <a:lnTo>
                  <a:pt x="3573211" y="0"/>
                </a:lnTo>
                <a:lnTo>
                  <a:pt x="3573211" y="3397799"/>
                </a:lnTo>
                <a:lnTo>
                  <a:pt x="0" y="339779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0">
            <a:off x="17139161" y="7565643"/>
            <a:ext cx="2297677" cy="3030510"/>
          </a:xfrm>
          <a:custGeom>
            <a:avLst/>
            <a:gdLst/>
            <a:ahLst/>
            <a:cxnLst/>
            <a:rect r="r" b="b" t="t" l="l"/>
            <a:pathLst>
              <a:path h="3030510" w="2297677">
                <a:moveTo>
                  <a:pt x="0" y="0"/>
                </a:moveTo>
                <a:lnTo>
                  <a:pt x="2297678" y="0"/>
                </a:lnTo>
                <a:lnTo>
                  <a:pt x="2297678" y="3030510"/>
                </a:lnTo>
                <a:lnTo>
                  <a:pt x="0" y="303051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8" id="8"/>
          <p:cNvSpPr/>
          <p:nvPr/>
        </p:nvSpPr>
        <p:spPr>
          <a:xfrm flipH="false" flipV="false" rot="6473539">
            <a:off x="16758040" y="4665438"/>
            <a:ext cx="2616063" cy="3141561"/>
          </a:xfrm>
          <a:custGeom>
            <a:avLst/>
            <a:gdLst/>
            <a:ahLst/>
            <a:cxnLst/>
            <a:rect r="r" b="b" t="t" l="l"/>
            <a:pathLst>
              <a:path h="3141561" w="2616063">
                <a:moveTo>
                  <a:pt x="0" y="0"/>
                </a:moveTo>
                <a:lnTo>
                  <a:pt x="2616063" y="0"/>
                </a:lnTo>
                <a:lnTo>
                  <a:pt x="2616063" y="3141561"/>
                </a:lnTo>
                <a:lnTo>
                  <a:pt x="0" y="314156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9" id="9"/>
          <p:cNvSpPr/>
          <p:nvPr/>
        </p:nvSpPr>
        <p:spPr>
          <a:xfrm flipH="false" flipV="false" rot="0">
            <a:off x="12832652" y="8132374"/>
            <a:ext cx="4288223" cy="2463779"/>
          </a:xfrm>
          <a:custGeom>
            <a:avLst/>
            <a:gdLst/>
            <a:ahLst/>
            <a:cxnLst/>
            <a:rect r="r" b="b" t="t" l="l"/>
            <a:pathLst>
              <a:path h="2463779" w="4288223">
                <a:moveTo>
                  <a:pt x="0" y="0"/>
                </a:moveTo>
                <a:lnTo>
                  <a:pt x="4288223" y="0"/>
                </a:lnTo>
                <a:lnTo>
                  <a:pt x="4288223" y="2463779"/>
                </a:lnTo>
                <a:lnTo>
                  <a:pt x="0" y="246377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0" id="10"/>
          <p:cNvSpPr txBox="true"/>
          <p:nvPr/>
        </p:nvSpPr>
        <p:spPr>
          <a:xfrm rot="0">
            <a:off x="1538290" y="3534762"/>
            <a:ext cx="10424831" cy="3516117"/>
          </a:xfrm>
          <a:prstGeom prst="rect">
            <a:avLst/>
          </a:prstGeom>
        </p:spPr>
        <p:txBody>
          <a:bodyPr anchor="t" rtlCol="false" tIns="0" lIns="0" bIns="0" rIns="0">
            <a:spAutoFit/>
          </a:bodyPr>
          <a:lstStyle/>
          <a:p>
            <a:pPr algn="l">
              <a:lnSpc>
                <a:spcPts val="13510"/>
              </a:lnSpc>
            </a:pPr>
            <a:r>
              <a:rPr lang="en-US" sz="13928" b="true">
                <a:solidFill>
                  <a:srgbClr val="222222"/>
                </a:solidFill>
                <a:latin typeface="Black Mango Bold"/>
                <a:ea typeface="Black Mango Bold"/>
                <a:cs typeface="Black Mango Bold"/>
                <a:sym typeface="Black Mango Bold"/>
              </a:rPr>
              <a:t>¡MUCHAS GRACIAS!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DAHYUSzjiIg</dc:identifier>
  <dcterms:modified xsi:type="dcterms:W3CDTF">2011-08-01T06:04:30Z</dcterms:modified>
  <cp:revision>1</cp:revision>
  <dc:title>Presentación Salud y Bienestar Ilustrado Turquesa</dc:title>
</cp:coreProperties>
</file>