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he Seasons Bold" charset="1" panose="00000000000000000000"/>
      <p:regular r:id="rId15"/>
    </p:embeddedFont>
    <p:embeddedFont>
      <p:font typeface="Bebas Neue" charset="1" panose="00000500000000000000"/>
      <p:regular r:id="rId16"/>
    </p:embeddedFont>
    <p:embeddedFont>
      <p:font typeface="Bebas Neue Bold" charset="1" panose="020B0606020202050201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9948" y="3449736"/>
            <a:ext cx="10093966" cy="391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60"/>
              </a:lnSpc>
            </a:pPr>
            <a:r>
              <a:rPr lang="en-US" sz="16466" b="true">
                <a:solidFill>
                  <a:srgbClr val="355E6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Pastillero</a:t>
            </a:r>
          </a:p>
          <a:p>
            <a:pPr algn="l">
              <a:lnSpc>
                <a:spcPts val="14160"/>
              </a:lnSpc>
            </a:pPr>
            <a:r>
              <a:rPr lang="en-US" sz="16466" b="true">
                <a:solidFill>
                  <a:srgbClr val="355E6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inteligente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033254" y="0"/>
            <a:ext cx="1644786" cy="10287000"/>
            <a:chOff x="0" y="0"/>
            <a:chExt cx="4331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31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33195">
                  <a:moveTo>
                    <a:pt x="0" y="0"/>
                  </a:moveTo>
                  <a:lnTo>
                    <a:pt x="433195" y="0"/>
                  </a:lnTo>
                  <a:lnTo>
                    <a:pt x="4331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319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73540" y="0"/>
            <a:ext cx="3614460" cy="10287000"/>
            <a:chOff x="0" y="0"/>
            <a:chExt cx="951957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957" cy="2709333"/>
            </a:xfrm>
            <a:custGeom>
              <a:avLst/>
              <a:gdLst/>
              <a:ahLst/>
              <a:cxnLst/>
              <a:rect r="r" b="b" t="t" l="l"/>
              <a:pathLst>
                <a:path h="2709333" w="951957">
                  <a:moveTo>
                    <a:pt x="0" y="0"/>
                  </a:moveTo>
                  <a:lnTo>
                    <a:pt x="951957" y="0"/>
                  </a:lnTo>
                  <a:lnTo>
                    <a:pt x="95195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5195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678040" y="-1621233"/>
            <a:ext cx="6630319" cy="5929366"/>
          </a:xfrm>
          <a:custGeom>
            <a:avLst/>
            <a:gdLst/>
            <a:ahLst/>
            <a:cxnLst/>
            <a:rect r="r" b="b" t="t" l="l"/>
            <a:pathLst>
              <a:path h="5929366" w="6630319">
                <a:moveTo>
                  <a:pt x="0" y="0"/>
                </a:moveTo>
                <a:lnTo>
                  <a:pt x="6630318" y="0"/>
                </a:lnTo>
                <a:lnTo>
                  <a:pt x="6630318" y="5929367"/>
                </a:lnTo>
                <a:lnTo>
                  <a:pt x="0" y="592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60010" y="9459967"/>
            <a:ext cx="6630319" cy="5929366"/>
          </a:xfrm>
          <a:custGeom>
            <a:avLst/>
            <a:gdLst/>
            <a:ahLst/>
            <a:cxnLst/>
            <a:rect r="r" b="b" t="t" l="l"/>
            <a:pathLst>
              <a:path h="5929366" w="6630319">
                <a:moveTo>
                  <a:pt x="0" y="0"/>
                </a:moveTo>
                <a:lnTo>
                  <a:pt x="6630319" y="0"/>
                </a:lnTo>
                <a:lnTo>
                  <a:pt x="6630319" y="5929366"/>
                </a:lnTo>
                <a:lnTo>
                  <a:pt x="0" y="5929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64222" y="427252"/>
            <a:ext cx="5224367" cy="1832397"/>
          </a:xfrm>
          <a:custGeom>
            <a:avLst/>
            <a:gdLst/>
            <a:ahLst/>
            <a:cxnLst/>
            <a:rect r="r" b="b" t="t" l="l"/>
            <a:pathLst>
              <a:path h="1832397" w="5224367">
                <a:moveTo>
                  <a:pt x="0" y="0"/>
                </a:moveTo>
                <a:lnTo>
                  <a:pt x="5224366" y="0"/>
                </a:lnTo>
                <a:lnTo>
                  <a:pt x="5224366" y="1832397"/>
                </a:lnTo>
                <a:lnTo>
                  <a:pt x="0" y="1832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2799475" y="324633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610082"/>
            <a:ext cx="13384332" cy="84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3298" spc="402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Taller de diseño de ingeniería sec.4 | profesor: benjamín gutiérrez</a:t>
            </a:r>
          </a:p>
          <a:p>
            <a:pPr algn="l">
              <a:lnSpc>
                <a:spcPts val="3298"/>
              </a:lnSpc>
            </a:pPr>
            <a:r>
              <a:rPr lang="en-US" sz="3298" spc="402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Greta Ferrer,Carolina Gallardo, Martina PenschkE, estela pérez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407" y="-208111"/>
            <a:ext cx="18446815" cy="5436874"/>
            <a:chOff x="0" y="0"/>
            <a:chExt cx="4858420" cy="1431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8420" cy="1431934"/>
            </a:xfrm>
            <a:custGeom>
              <a:avLst/>
              <a:gdLst/>
              <a:ahLst/>
              <a:cxnLst/>
              <a:rect r="r" b="b" t="t" l="l"/>
              <a:pathLst>
                <a:path h="1431934" w="4858420">
                  <a:moveTo>
                    <a:pt x="0" y="0"/>
                  </a:moveTo>
                  <a:lnTo>
                    <a:pt x="4858420" y="0"/>
                  </a:lnTo>
                  <a:lnTo>
                    <a:pt x="4858420" y="1431934"/>
                  </a:lnTo>
                  <a:lnTo>
                    <a:pt x="0" y="1431934"/>
                  </a:lnTo>
                  <a:close/>
                </a:path>
              </a:pathLst>
            </a:custGeom>
            <a:solidFill>
              <a:srgbClr val="2B485F">
                <a:alpha val="8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58420" cy="1479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33508" y="4281831"/>
            <a:ext cx="8359912" cy="7476109"/>
          </a:xfrm>
          <a:custGeom>
            <a:avLst/>
            <a:gdLst/>
            <a:ahLst/>
            <a:cxnLst/>
            <a:rect r="r" b="b" t="t" l="l"/>
            <a:pathLst>
              <a:path h="7476109" w="8359912">
                <a:moveTo>
                  <a:pt x="0" y="0"/>
                </a:moveTo>
                <a:lnTo>
                  <a:pt x="8359912" y="0"/>
                </a:lnTo>
                <a:lnTo>
                  <a:pt x="8359912" y="7476108"/>
                </a:lnTo>
                <a:lnTo>
                  <a:pt x="0" y="747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7737" y="1842969"/>
            <a:ext cx="4559383" cy="3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7"/>
              </a:lnSpc>
            </a:pPr>
            <a:r>
              <a:rPr lang="en-US" b="true" sz="3920" spc="478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QUÉ:</a:t>
            </a:r>
          </a:p>
          <a:p>
            <a:pPr algn="just">
              <a:lnSpc>
                <a:spcPts val="4587"/>
              </a:lnSpc>
            </a:pPr>
            <a:r>
              <a:rPr lang="en-US" sz="3920" spc="478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EL PROBLEMA ES EL</a:t>
            </a:r>
            <a:r>
              <a:rPr lang="en-US" b="true" sz="3920" spc="478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</a:t>
            </a:r>
            <a:r>
              <a:rPr lang="en-US" sz="3920" spc="478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OLVIDO DE LAS DOSIS Y HORARIO, AUSENCIA SUPERVISIÓN DEL INVENTARIO</a:t>
            </a:r>
            <a:r>
              <a:rPr lang="en-US" sz="3920" spc="478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4650" y="1842969"/>
            <a:ext cx="5464710" cy="292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7"/>
              </a:lnSpc>
            </a:pPr>
            <a:r>
              <a:rPr lang="en-US" b="true" sz="3920" spc="478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QUIÉN: </a:t>
            </a:r>
          </a:p>
          <a:p>
            <a:pPr algn="just">
              <a:lnSpc>
                <a:spcPts val="4587"/>
              </a:lnSpc>
            </a:pPr>
            <a:r>
              <a:rPr lang="en-US" sz="3920" spc="478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USUARIOS DE 18 A 5O AÑOS (PERSONAS CON SUS CAPACIDADES MENTALES COMPLETAS)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48203" y="6052781"/>
            <a:ext cx="4559383" cy="233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7"/>
              </a:lnSpc>
            </a:pPr>
            <a:r>
              <a:rPr lang="en-US" b="true" sz="3920" spc="478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DÓNDE:</a:t>
            </a:r>
          </a:p>
          <a:p>
            <a:pPr algn="just">
              <a:lnSpc>
                <a:spcPts val="4587"/>
              </a:lnSpc>
            </a:pPr>
            <a:r>
              <a:rPr lang="en-US" sz="3920" spc="478">
                <a:solidFill>
                  <a:srgbClr val="355E69"/>
                </a:solidFill>
                <a:latin typeface="Bebas Neue"/>
                <a:ea typeface="Bebas Neue"/>
                <a:cs typeface="Bebas Neue"/>
                <a:sym typeface="Bebas Neue"/>
              </a:rPr>
              <a:t>ENTORNO URBANO SANTIAGO</a:t>
            </a:r>
          </a:p>
          <a:p>
            <a:pPr algn="just">
              <a:lnSpc>
                <a:spcPts val="4587"/>
              </a:lnSpc>
            </a:pPr>
            <a:r>
              <a:rPr lang="en-US" sz="3920" spc="478">
                <a:solidFill>
                  <a:srgbClr val="355E69"/>
                </a:solidFill>
                <a:latin typeface="Bebas Neue"/>
                <a:ea typeface="Bebas Neue"/>
                <a:cs typeface="Bebas Neue"/>
                <a:sym typeface="Bebas Neue"/>
              </a:rPr>
              <a:t> (TRANSPORTABLE)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3089" y="1757244"/>
            <a:ext cx="4441616" cy="341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4"/>
              </a:lnSpc>
            </a:pPr>
            <a:r>
              <a:rPr lang="en-US" b="true" sz="3874" spc="472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cuándo</a:t>
            </a:r>
            <a:r>
              <a:rPr lang="en-US" sz="3874" spc="47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:</a:t>
            </a:r>
          </a:p>
          <a:p>
            <a:pPr algn="just">
              <a:lnSpc>
                <a:spcPts val="5424"/>
              </a:lnSpc>
              <a:spcBef>
                <a:spcPct val="0"/>
              </a:spcBef>
            </a:pPr>
            <a:r>
              <a:rPr lang="en-US" sz="3874" spc="47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diariam</a:t>
            </a:r>
            <a:r>
              <a:rPr lang="en-US" sz="3874" spc="47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ente (Horarios establecidos por los medicamentos)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437" y="5967056"/>
            <a:ext cx="5358028" cy="410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8"/>
              </a:lnSpc>
            </a:pPr>
            <a:r>
              <a:rPr lang="en-US" b="true" sz="3906" spc="476">
                <a:solidFill>
                  <a:srgbClr val="2B485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Por qué:</a:t>
            </a:r>
          </a:p>
          <a:p>
            <a:pPr algn="just">
              <a:lnSpc>
                <a:spcPts val="5468"/>
              </a:lnSpc>
              <a:spcBef>
                <a:spcPct val="0"/>
              </a:spcBef>
            </a:pPr>
            <a:r>
              <a:rPr lang="en-US" sz="3906" spc="476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rutinas </a:t>
            </a:r>
            <a:r>
              <a:rPr lang="en-US" sz="3906" spc="476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exigentes, olvidos, sobrecarga de responsabilidades, dependencia de memoria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93120" y="5967056"/>
            <a:ext cx="5637932" cy="410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6"/>
              </a:lnSpc>
            </a:pPr>
            <a:r>
              <a:rPr lang="en-US" b="true" sz="3904" spc="476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cómo</a:t>
            </a:r>
            <a:r>
              <a:rPr lang="en-US" sz="3904" spc="476">
                <a:solidFill>
                  <a:srgbClr val="355E69"/>
                </a:solidFill>
                <a:latin typeface="Bebas Neue"/>
                <a:ea typeface="Bebas Neue"/>
                <a:cs typeface="Bebas Neue"/>
                <a:sym typeface="Bebas Neue"/>
              </a:rPr>
              <a:t>: </a:t>
            </a:r>
          </a:p>
          <a:p>
            <a:pPr algn="just">
              <a:lnSpc>
                <a:spcPts val="5466"/>
              </a:lnSpc>
              <a:spcBef>
                <a:spcPct val="0"/>
              </a:spcBef>
            </a:pPr>
            <a:r>
              <a:rPr lang="en-US" sz="3904" spc="476">
                <a:solidFill>
                  <a:srgbClr val="355E69"/>
                </a:solidFill>
                <a:latin typeface="Bebas Neue"/>
                <a:ea typeface="Bebas Neue"/>
                <a:cs typeface="Bebas Neue"/>
                <a:sym typeface="Bebas Neue"/>
              </a:rPr>
              <a:t>olvidos o confusiones en los horarios y dosis, falta d</a:t>
            </a:r>
            <a:r>
              <a:rPr lang="en-US" sz="3904" spc="476">
                <a:solidFill>
                  <a:srgbClr val="355E69"/>
                </a:solidFill>
                <a:latin typeface="Bebas Neue"/>
                <a:ea typeface="Bebas Neue"/>
                <a:cs typeface="Bebas Neue"/>
                <a:sym typeface="Bebas Neue"/>
              </a:rPr>
              <a:t>e control del stock e interrupciones del tratamiento.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46425" y="-10371"/>
            <a:ext cx="4761161" cy="103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3"/>
              </a:lnSpc>
              <a:spcBef>
                <a:spcPct val="0"/>
              </a:spcBef>
            </a:pPr>
            <a:r>
              <a:rPr lang="en-US" b="true" sz="5966" spc="727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Problemática</a:t>
            </a:r>
            <a:r>
              <a:rPr lang="en-US" sz="5966" spc="727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3508" y="4281831"/>
            <a:ext cx="8359912" cy="7476109"/>
          </a:xfrm>
          <a:custGeom>
            <a:avLst/>
            <a:gdLst/>
            <a:ahLst/>
            <a:cxnLst/>
            <a:rect r="r" b="b" t="t" l="l"/>
            <a:pathLst>
              <a:path h="7476109" w="8359912">
                <a:moveTo>
                  <a:pt x="0" y="0"/>
                </a:moveTo>
                <a:lnTo>
                  <a:pt x="8359912" y="0"/>
                </a:lnTo>
                <a:lnTo>
                  <a:pt x="8359912" y="7476108"/>
                </a:lnTo>
                <a:lnTo>
                  <a:pt x="0" y="747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8707" y="1600200"/>
            <a:ext cx="2791162" cy="2791162"/>
          </a:xfrm>
          <a:custGeom>
            <a:avLst/>
            <a:gdLst/>
            <a:ahLst/>
            <a:cxnLst/>
            <a:rect r="r" b="b" t="t" l="l"/>
            <a:pathLst>
              <a:path h="2791162" w="2791162">
                <a:moveTo>
                  <a:pt x="0" y="0"/>
                </a:moveTo>
                <a:lnTo>
                  <a:pt x="2791162" y="0"/>
                </a:lnTo>
                <a:lnTo>
                  <a:pt x="2791162" y="2791162"/>
                </a:lnTo>
                <a:lnTo>
                  <a:pt x="0" y="2791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1268" y="581025"/>
            <a:ext cx="836273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spc="915" b="true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Conexión con 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268" y="2298395"/>
            <a:ext cx="13137439" cy="286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2"/>
              </a:lnSpc>
            </a:pPr>
            <a:r>
              <a:rPr lang="en-US" sz="4115" spc="502" b="true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ODS 3: SALUD Y BIENESTAR</a:t>
            </a:r>
          </a:p>
          <a:p>
            <a:pPr algn="l" marL="888624" indent="-444312" lvl="1">
              <a:lnSpc>
                <a:spcPts val="5762"/>
              </a:lnSpc>
              <a:buFont typeface="Arial"/>
              <a:buChar char="•"/>
            </a:pPr>
            <a:r>
              <a:rPr lang="en-US" sz="4115" spc="502">
                <a:solidFill>
                  <a:srgbClr val="355E69"/>
                </a:solidFill>
                <a:latin typeface="Bebas Neue"/>
                <a:ea typeface="Bebas Neue"/>
                <a:cs typeface="Bebas Neue"/>
                <a:sym typeface="Bebas Neue"/>
              </a:rPr>
              <a:t>Prevención de recaídas por interrupción de tratamientos</a:t>
            </a:r>
          </a:p>
          <a:p>
            <a:pPr algn="l">
              <a:lnSpc>
                <a:spcPts val="576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81268" y="5239928"/>
            <a:ext cx="14335331" cy="184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3"/>
              </a:lnSpc>
            </a:pPr>
            <a:r>
              <a:rPr lang="en-US" b="true" sz="4105" spc="500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ES  RELEVANTE PARA SANTIAGO PORQUE:</a:t>
            </a:r>
          </a:p>
          <a:p>
            <a:pPr algn="just" marL="886441" indent="-443221" lvl="1">
              <a:lnSpc>
                <a:spcPts val="4803"/>
              </a:lnSpc>
              <a:buFont typeface="Arial"/>
              <a:buChar char="•"/>
            </a:pPr>
            <a:r>
              <a:rPr lang="en-US" sz="4105" spc="500">
                <a:solidFill>
                  <a:srgbClr val="355E69"/>
                </a:solidFill>
                <a:latin typeface="Bebas Neue"/>
                <a:ea typeface="Bebas Neue"/>
                <a:cs typeface="Bebas Neue"/>
                <a:sym typeface="Bebas Neue"/>
              </a:rPr>
              <a:t>RITMO DE VIDA ACELERADO Y EXTENSOS TIEMPOS DE TRASLADO, PROVOCA EL OLVIDÓ DE MEDICAMENTOS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2577" y="0"/>
            <a:ext cx="12541625" cy="10287000"/>
            <a:chOff x="0" y="0"/>
            <a:chExt cx="330314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31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303144">
                  <a:moveTo>
                    <a:pt x="0" y="0"/>
                  </a:moveTo>
                  <a:lnTo>
                    <a:pt x="3303144" y="0"/>
                  </a:lnTo>
                  <a:lnTo>
                    <a:pt x="33031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314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42282" y="405365"/>
            <a:ext cx="11482216" cy="937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9024" indent="-314512" lvl="1">
              <a:lnSpc>
                <a:spcPts val="4486"/>
              </a:lnSpc>
              <a:buAutoNum type="arabicPeriod" startAt="1"/>
            </a:pPr>
            <a:r>
              <a:rPr lang="en-US" b="true" sz="2913" spc="355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Hipertensión arterial: 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90% de los centros de atención primaria implementaban HEARTS en Chile (2024).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Mantener el tratamiento es fundamental para controlar la presión arterial.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alcanzó una cobertura poblacional del 35%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Falta de control—&gt; riesgo de ACV, infarto, insuficiencia cardíaca y daño renal.</a:t>
            </a:r>
          </a:p>
          <a:p>
            <a:pPr algn="just" marL="629024" indent="-314512" lvl="1">
              <a:lnSpc>
                <a:spcPts val="4486"/>
              </a:lnSpc>
              <a:buAutoNum type="arabicPeriod" startAt="1"/>
            </a:pPr>
            <a:r>
              <a:rPr lang="en-US" b="true" sz="2913" spc="355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Diabetes tipo 2</a:t>
            </a:r>
            <a:r>
              <a:rPr lang="en-US" sz="2913" spc="355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: 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59% de adultos ≥30 con diabetes no tomaba medicación </a:t>
            </a:r>
            <a:r>
              <a:rPr lang="en-US" sz="2644" i="true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(dato 2022; oms 2024)</a:t>
            </a: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.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sin tratamiento —&gt; mayor glucosa en sangre 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riesgo de infarto, ACV, insuficiencia renal y pérdida de visión.</a:t>
            </a:r>
          </a:p>
          <a:p>
            <a:pPr algn="just" marL="629024" indent="-314512" lvl="1">
              <a:lnSpc>
                <a:spcPts val="4486"/>
              </a:lnSpc>
              <a:buAutoNum type="arabicPeriod" startAt="1"/>
            </a:pPr>
            <a:r>
              <a:rPr lang="en-US" b="true" sz="2913" spc="355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VIH</a:t>
            </a:r>
            <a:r>
              <a:rPr lang="en-US" sz="2913" spc="355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: 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tratamiento antirretroviral de por vida (NIH, 2025).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 Omitir dosis→ el virus puede multiplicarse.</a:t>
            </a:r>
          </a:p>
          <a:p>
            <a:pPr algn="l" marL="570893" indent="-285446" lvl="1">
              <a:lnSpc>
                <a:spcPts val="4072"/>
              </a:lnSpc>
              <a:buFont typeface="Arial"/>
              <a:buChar char="•"/>
            </a:pPr>
            <a:r>
              <a:rPr lang="en-US" sz="2644" spc="322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Aumenta riesgo de resistencia a medicamentos y fracaso del tratamiento.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033508" y="4281831"/>
            <a:ext cx="8359912" cy="7476109"/>
          </a:xfrm>
          <a:custGeom>
            <a:avLst/>
            <a:gdLst/>
            <a:ahLst/>
            <a:cxnLst/>
            <a:rect r="r" b="b" t="t" l="l"/>
            <a:pathLst>
              <a:path h="7476109" w="8359912">
                <a:moveTo>
                  <a:pt x="0" y="0"/>
                </a:moveTo>
                <a:lnTo>
                  <a:pt x="8359912" y="0"/>
                </a:lnTo>
                <a:lnTo>
                  <a:pt x="8359912" y="7476108"/>
                </a:lnTo>
                <a:lnTo>
                  <a:pt x="0" y="747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3881" y="65875"/>
            <a:ext cx="5584805" cy="519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b="true" sz="4800" spc="585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el impacto del olvido de medicamentos en enfermedades CRÓNICas</a:t>
            </a:r>
            <a:r>
              <a:rPr lang="en-US" b="true" sz="4800" spc="585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</a:t>
            </a:r>
          </a:p>
          <a:p>
            <a:pPr algn="l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3881" y="596248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9819" y="1792397"/>
            <a:ext cx="8706677" cy="8706677"/>
          </a:xfrm>
          <a:custGeom>
            <a:avLst/>
            <a:gdLst/>
            <a:ahLst/>
            <a:cxnLst/>
            <a:rect r="r" b="b" t="t" l="l"/>
            <a:pathLst>
              <a:path h="8706677" w="8706677">
                <a:moveTo>
                  <a:pt x="0" y="0"/>
                </a:moveTo>
                <a:lnTo>
                  <a:pt x="8706677" y="0"/>
                </a:lnTo>
                <a:lnTo>
                  <a:pt x="8706677" y="8706677"/>
                </a:lnTo>
                <a:lnTo>
                  <a:pt x="0" y="870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587" y="3154562"/>
            <a:ext cx="3934773" cy="5526098"/>
            <a:chOff x="0" y="0"/>
            <a:chExt cx="1036319" cy="14554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6319" cy="1455433"/>
            </a:xfrm>
            <a:custGeom>
              <a:avLst/>
              <a:gdLst/>
              <a:ahLst/>
              <a:cxnLst/>
              <a:rect r="r" b="b" t="t" l="l"/>
              <a:pathLst>
                <a:path h="1455433" w="1036319">
                  <a:moveTo>
                    <a:pt x="196756" y="0"/>
                  </a:moveTo>
                  <a:lnTo>
                    <a:pt x="839562" y="0"/>
                  </a:lnTo>
                  <a:cubicBezTo>
                    <a:pt x="948228" y="0"/>
                    <a:pt x="1036319" y="88091"/>
                    <a:pt x="1036319" y="196756"/>
                  </a:cubicBezTo>
                  <a:lnTo>
                    <a:pt x="1036319" y="1258677"/>
                  </a:lnTo>
                  <a:cubicBezTo>
                    <a:pt x="1036319" y="1367342"/>
                    <a:pt x="948228" y="1455433"/>
                    <a:pt x="839562" y="1455433"/>
                  </a:cubicBezTo>
                  <a:lnTo>
                    <a:pt x="196756" y="1455433"/>
                  </a:lnTo>
                  <a:cubicBezTo>
                    <a:pt x="144573" y="1455433"/>
                    <a:pt x="94528" y="1434704"/>
                    <a:pt x="57629" y="1397805"/>
                  </a:cubicBezTo>
                  <a:cubicBezTo>
                    <a:pt x="20730" y="1360905"/>
                    <a:pt x="0" y="1310860"/>
                    <a:pt x="0" y="1258677"/>
                  </a:cubicBezTo>
                  <a:lnTo>
                    <a:pt x="0" y="196756"/>
                  </a:lnTo>
                  <a:cubicBezTo>
                    <a:pt x="0" y="88091"/>
                    <a:pt x="88091" y="0"/>
                    <a:pt x="1967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6319" cy="1503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9592255" y="1505486"/>
            <a:ext cx="9614479" cy="9614479"/>
          </a:xfrm>
          <a:custGeom>
            <a:avLst/>
            <a:gdLst/>
            <a:ahLst/>
            <a:cxnLst/>
            <a:rect r="r" b="b" t="t" l="l"/>
            <a:pathLst>
              <a:path h="9614479" w="9614479">
                <a:moveTo>
                  <a:pt x="0" y="0"/>
                </a:moveTo>
                <a:lnTo>
                  <a:pt x="9614479" y="0"/>
                </a:lnTo>
                <a:lnTo>
                  <a:pt x="9614479" y="9614479"/>
                </a:lnTo>
                <a:lnTo>
                  <a:pt x="0" y="9614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29532" y="2773675"/>
            <a:ext cx="4869987" cy="6484625"/>
            <a:chOff x="0" y="0"/>
            <a:chExt cx="1282630" cy="17078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630" cy="1707885"/>
            </a:xfrm>
            <a:custGeom>
              <a:avLst/>
              <a:gdLst/>
              <a:ahLst/>
              <a:cxnLst/>
              <a:rect r="r" b="b" t="t" l="l"/>
              <a:pathLst>
                <a:path h="1707885" w="1282630">
                  <a:moveTo>
                    <a:pt x="158972" y="0"/>
                  </a:moveTo>
                  <a:lnTo>
                    <a:pt x="1123658" y="0"/>
                  </a:lnTo>
                  <a:cubicBezTo>
                    <a:pt x="1211456" y="0"/>
                    <a:pt x="1282630" y="71174"/>
                    <a:pt x="1282630" y="158972"/>
                  </a:cubicBezTo>
                  <a:lnTo>
                    <a:pt x="1282630" y="1548913"/>
                  </a:lnTo>
                  <a:cubicBezTo>
                    <a:pt x="1282630" y="1591075"/>
                    <a:pt x="1265882" y="1631510"/>
                    <a:pt x="1236069" y="1661323"/>
                  </a:cubicBezTo>
                  <a:cubicBezTo>
                    <a:pt x="1206256" y="1691136"/>
                    <a:pt x="1165820" y="1707885"/>
                    <a:pt x="1123658" y="1707885"/>
                  </a:cubicBezTo>
                  <a:lnTo>
                    <a:pt x="158972" y="1707885"/>
                  </a:lnTo>
                  <a:cubicBezTo>
                    <a:pt x="71174" y="1707885"/>
                    <a:pt x="0" y="1636711"/>
                    <a:pt x="0" y="1548913"/>
                  </a:cubicBezTo>
                  <a:lnTo>
                    <a:pt x="0" y="158972"/>
                  </a:lnTo>
                  <a:cubicBezTo>
                    <a:pt x="0" y="116810"/>
                    <a:pt x="16749" y="76375"/>
                    <a:pt x="46562" y="46562"/>
                  </a:cubicBezTo>
                  <a:cubicBezTo>
                    <a:pt x="76375" y="16749"/>
                    <a:pt x="116810" y="0"/>
                    <a:pt x="1589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82630" cy="1755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782215" y="49322"/>
            <a:ext cx="19852430" cy="1543050"/>
            <a:chOff x="0" y="0"/>
            <a:chExt cx="5228623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28623" cy="406400"/>
            </a:xfrm>
            <a:custGeom>
              <a:avLst/>
              <a:gdLst/>
              <a:ahLst/>
              <a:cxnLst/>
              <a:rect r="r" b="b" t="t" l="l"/>
              <a:pathLst>
                <a:path h="406400" w="5228623">
                  <a:moveTo>
                    <a:pt x="0" y="0"/>
                  </a:moveTo>
                  <a:lnTo>
                    <a:pt x="5228623" y="0"/>
                  </a:lnTo>
                  <a:lnTo>
                    <a:pt x="5228623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355E6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2862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38313" y="2773675"/>
            <a:ext cx="5187261" cy="3566001"/>
            <a:chOff x="0" y="0"/>
            <a:chExt cx="1366192" cy="9391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6192" cy="939194"/>
            </a:xfrm>
            <a:custGeom>
              <a:avLst/>
              <a:gdLst/>
              <a:ahLst/>
              <a:cxnLst/>
              <a:rect r="r" b="b" t="t" l="l"/>
              <a:pathLst>
                <a:path h="939194" w="1366192">
                  <a:moveTo>
                    <a:pt x="149249" y="0"/>
                  </a:moveTo>
                  <a:lnTo>
                    <a:pt x="1216943" y="0"/>
                  </a:lnTo>
                  <a:cubicBezTo>
                    <a:pt x="1299371" y="0"/>
                    <a:pt x="1366192" y="66821"/>
                    <a:pt x="1366192" y="149249"/>
                  </a:cubicBezTo>
                  <a:lnTo>
                    <a:pt x="1366192" y="789945"/>
                  </a:lnTo>
                  <a:cubicBezTo>
                    <a:pt x="1366192" y="829528"/>
                    <a:pt x="1350468" y="867490"/>
                    <a:pt x="1322478" y="895480"/>
                  </a:cubicBezTo>
                  <a:cubicBezTo>
                    <a:pt x="1294489" y="923469"/>
                    <a:pt x="1256527" y="939194"/>
                    <a:pt x="1216943" y="939194"/>
                  </a:cubicBezTo>
                  <a:lnTo>
                    <a:pt x="149249" y="939194"/>
                  </a:lnTo>
                  <a:cubicBezTo>
                    <a:pt x="66821" y="939194"/>
                    <a:pt x="0" y="872373"/>
                    <a:pt x="0" y="789945"/>
                  </a:cubicBezTo>
                  <a:lnTo>
                    <a:pt x="0" y="149249"/>
                  </a:lnTo>
                  <a:cubicBezTo>
                    <a:pt x="0" y="66821"/>
                    <a:pt x="66821" y="0"/>
                    <a:pt x="1492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66192" cy="986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64467" y="4911311"/>
            <a:ext cx="4934952" cy="180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sz="2576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En Chile, el 63,9% de la población desde los 15 años tiene al menos una enfermedad crónica (Minsal)</a:t>
            </a:r>
          </a:p>
          <a:p>
            <a:pPr algn="ctr">
              <a:lnSpc>
                <a:spcPts val="3606"/>
              </a:lnSpc>
            </a:pPr>
            <a:r>
              <a:rPr lang="en-US" sz="2576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 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899519" y="4749294"/>
            <a:ext cx="1489172" cy="0"/>
          </a:xfrm>
          <a:prstGeom prst="line">
            <a:avLst/>
          </a:prstGeom>
          <a:ln cap="flat" w="38100">
            <a:solidFill>
              <a:srgbClr val="2B485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831943" y="6408534"/>
            <a:ext cx="0" cy="610093"/>
          </a:xfrm>
          <a:prstGeom prst="line">
            <a:avLst/>
          </a:prstGeom>
          <a:ln cap="flat" w="38100">
            <a:solidFill>
              <a:srgbClr val="2B485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030658" y="7038088"/>
            <a:ext cx="3602570" cy="2184623"/>
            <a:chOff x="0" y="0"/>
            <a:chExt cx="1115225" cy="676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5225" cy="676280"/>
            </a:xfrm>
            <a:custGeom>
              <a:avLst/>
              <a:gdLst/>
              <a:ahLst/>
              <a:cxnLst/>
              <a:rect r="r" b="b" t="t" l="l"/>
              <a:pathLst>
                <a:path h="676280" w="1115225">
                  <a:moveTo>
                    <a:pt x="214900" y="0"/>
                  </a:moveTo>
                  <a:lnTo>
                    <a:pt x="900325" y="0"/>
                  </a:lnTo>
                  <a:cubicBezTo>
                    <a:pt x="1019011" y="0"/>
                    <a:pt x="1115225" y="96214"/>
                    <a:pt x="1115225" y="214900"/>
                  </a:cubicBezTo>
                  <a:lnTo>
                    <a:pt x="1115225" y="461380"/>
                  </a:lnTo>
                  <a:cubicBezTo>
                    <a:pt x="1115225" y="518375"/>
                    <a:pt x="1092583" y="573036"/>
                    <a:pt x="1052282" y="613337"/>
                  </a:cubicBezTo>
                  <a:cubicBezTo>
                    <a:pt x="1011980" y="653639"/>
                    <a:pt x="957320" y="676280"/>
                    <a:pt x="900325" y="676280"/>
                  </a:cubicBezTo>
                  <a:lnTo>
                    <a:pt x="214900" y="676280"/>
                  </a:lnTo>
                  <a:cubicBezTo>
                    <a:pt x="157905" y="676280"/>
                    <a:pt x="103244" y="653639"/>
                    <a:pt x="62943" y="613337"/>
                  </a:cubicBezTo>
                  <a:cubicBezTo>
                    <a:pt x="22641" y="573036"/>
                    <a:pt x="0" y="518375"/>
                    <a:pt x="0" y="461380"/>
                  </a:cubicBezTo>
                  <a:lnTo>
                    <a:pt x="0" y="214900"/>
                  </a:lnTo>
                  <a:cubicBezTo>
                    <a:pt x="0" y="157905"/>
                    <a:pt x="22641" y="103244"/>
                    <a:pt x="62943" y="62943"/>
                  </a:cubicBezTo>
                  <a:cubicBezTo>
                    <a:pt x="103244" y="22641"/>
                    <a:pt x="157905" y="0"/>
                    <a:pt x="2149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15225" cy="723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4540360" y="5847907"/>
            <a:ext cx="1489172" cy="0"/>
          </a:xfrm>
          <a:prstGeom prst="line">
            <a:avLst/>
          </a:prstGeom>
          <a:ln cap="flat" w="38100">
            <a:solidFill>
              <a:srgbClr val="2B485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3751292" y="460501"/>
            <a:ext cx="10785416" cy="101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8"/>
              </a:lnSpc>
            </a:pPr>
            <a:r>
              <a:rPr lang="en-US" b="true" sz="5884" spc="717">
                <a:solidFill>
                  <a:srgbClr val="CAE6D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Investigación y análisis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85050" y="6325860"/>
            <a:ext cx="135895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2B485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OLVIDO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66238" y="7313044"/>
            <a:ext cx="4596574" cy="182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2593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EL OLVIDO ES LA CAUSA MAS HABITUAL DEL INCUMPLIMIENTO DE UN TRATAMIENTO FARMACOLÓGICO </a:t>
            </a:r>
          </a:p>
          <a:p>
            <a:pPr algn="ctr">
              <a:lnSpc>
                <a:spcPts val="3630"/>
              </a:lnSpc>
            </a:pPr>
            <a:r>
              <a:rPr lang="en-US" sz="2593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(MANUAL MSD)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16840" y="2874731"/>
            <a:ext cx="3316388" cy="207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55"/>
              </a:lnSpc>
            </a:pPr>
            <a:r>
              <a:rPr lang="en-US" b="true" sz="12111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63,9 %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64793" y="7053570"/>
            <a:ext cx="1761348" cy="120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02"/>
              </a:lnSpc>
            </a:pPr>
            <a:r>
              <a:rPr lang="en-US" sz="6930" b="true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40,1%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67909" y="8207034"/>
            <a:ext cx="2955116" cy="89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sz="2576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vive con dos o más problemas de salud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2738" y="3832254"/>
            <a:ext cx="4044272" cy="432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762" indent="-381881" lvl="1">
              <a:lnSpc>
                <a:spcPts val="4952"/>
              </a:lnSpc>
              <a:buFont typeface="Arial"/>
              <a:buChar char="•"/>
            </a:pPr>
            <a:r>
              <a:rPr lang="en-US" sz="3537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Alteración de la calidad de vida</a:t>
            </a:r>
          </a:p>
          <a:p>
            <a:pPr algn="l" marL="763762" indent="-381881" lvl="1">
              <a:lnSpc>
                <a:spcPts val="4952"/>
              </a:lnSpc>
              <a:buFont typeface="Arial"/>
              <a:buChar char="•"/>
            </a:pPr>
            <a:r>
              <a:rPr lang="en-US" sz="3537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falta de control/ progresión de la enfermedad</a:t>
            </a:r>
          </a:p>
          <a:p>
            <a:pPr algn="l" marL="763762" indent="-381881" lvl="1">
              <a:lnSpc>
                <a:spcPts val="4952"/>
              </a:lnSpc>
              <a:buFont typeface="Arial"/>
              <a:buChar char="•"/>
            </a:pPr>
            <a:r>
              <a:rPr lang="en-US" sz="3537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mayor utilización de atención médica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5465" y="2803207"/>
            <a:ext cx="8283510" cy="828351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EFEF">
                <a:alpha val="7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93881" y="1114051"/>
            <a:ext cx="8283510" cy="828351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6DE">
                <a:alpha val="8588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11151" y="3840068"/>
            <a:ext cx="2715483" cy="1303432"/>
          </a:xfrm>
          <a:custGeom>
            <a:avLst/>
            <a:gdLst/>
            <a:ahLst/>
            <a:cxnLst/>
            <a:rect r="r" b="b" t="t" l="l"/>
            <a:pathLst>
              <a:path h="1303432" w="2715483">
                <a:moveTo>
                  <a:pt x="0" y="0"/>
                </a:moveTo>
                <a:lnTo>
                  <a:pt x="2715483" y="0"/>
                </a:lnTo>
                <a:lnTo>
                  <a:pt x="2715483" y="1303432"/>
                </a:lnTo>
                <a:lnTo>
                  <a:pt x="0" y="1303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1861583">
            <a:off x="10599612" y="-3674411"/>
            <a:ext cx="8680417" cy="86804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E3CF">
                <a:alpha val="84706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627396" y="-270100"/>
            <a:ext cx="6917229" cy="2365803"/>
            <a:chOff x="0" y="0"/>
            <a:chExt cx="1821822" cy="623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1822" cy="623092"/>
            </a:xfrm>
            <a:custGeom>
              <a:avLst/>
              <a:gdLst/>
              <a:ahLst/>
              <a:cxnLst/>
              <a:rect r="r" b="b" t="t" l="l"/>
              <a:pathLst>
                <a:path h="623092" w="1821822">
                  <a:moveTo>
                    <a:pt x="0" y="0"/>
                  </a:moveTo>
                  <a:lnTo>
                    <a:pt x="1821822" y="0"/>
                  </a:lnTo>
                  <a:lnTo>
                    <a:pt x="1821822" y="623092"/>
                  </a:lnTo>
                  <a:lnTo>
                    <a:pt x="0" y="623092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21822" cy="670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-260070" y="5276182"/>
            <a:ext cx="9243549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2" indent="-518161" lvl="1">
              <a:lnSpc>
                <a:spcPts val="6720"/>
              </a:lnSpc>
              <a:buAutoNum type="arabicPeriod" startAt="1"/>
            </a:pPr>
            <a:r>
              <a:rPr lang="en-US" b="true" sz="48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actores involucrados </a:t>
            </a:r>
          </a:p>
          <a:p>
            <a:pPr algn="l">
              <a:lnSpc>
                <a:spcPts val="67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7505" y="6009227"/>
            <a:ext cx="6448012" cy="388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76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U</a:t>
            </a:r>
            <a:r>
              <a:rPr lang="en-US" sz="276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suario directo</a:t>
            </a:r>
          </a:p>
          <a:p>
            <a:pPr algn="l" marL="597000" indent="-298500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Personas de 18–50 años</a:t>
            </a:r>
          </a:p>
          <a:p>
            <a:pPr algn="l" marL="597000" indent="-298500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Residentes en Santiago</a:t>
            </a:r>
          </a:p>
          <a:p>
            <a:pPr algn="l" marL="597000" indent="-298500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tratamiento farmacológico regular</a:t>
            </a:r>
          </a:p>
          <a:p>
            <a:pPr algn="l" marL="597000" indent="-298500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Administración autónoma</a:t>
            </a:r>
          </a:p>
          <a:p>
            <a:pPr algn="l">
              <a:lnSpc>
                <a:spcPts val="3871"/>
              </a:lnSpc>
            </a:pPr>
            <a:r>
              <a:rPr lang="en-US" sz="276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Actores secundarios :Profesionales de la salud , Familiares o personas cercanas, Farmacias y sistema de salud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24828" y="1838943"/>
            <a:ext cx="4946757" cy="212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590" indent="-33079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Alarmas del celular</a:t>
            </a:r>
          </a:p>
          <a:p>
            <a:pPr algn="l" marL="661590" indent="-33079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Aplicaciones de recordatorio</a:t>
            </a:r>
          </a:p>
          <a:p>
            <a:pPr algn="l" marL="661590" indent="-33079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Pastilleros convencionales</a:t>
            </a:r>
          </a:p>
          <a:p>
            <a:pPr algn="l" marL="661590" indent="-33079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Asociar la toma a rutinas diarias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89833" y="3384290"/>
            <a:ext cx="8284409" cy="386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0"/>
              </a:lnSpc>
              <a:spcBef>
                <a:spcPct val="0"/>
              </a:spcBef>
            </a:pPr>
            <a:r>
              <a:rPr lang="en-US" b="true" sz="5036">
                <a:solidFill>
                  <a:srgbClr val="FF313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BRECHA IDENTIFICADA</a:t>
            </a:r>
          </a:p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027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-US" b="true" sz="3027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Los recordatorios actuales pueden avisar, pero el usuario aún puede ignorar o posponer la acción.</a:t>
            </a:r>
          </a:p>
          <a:p>
            <a:pPr algn="ctr">
              <a:lnSpc>
                <a:spcPts val="3819"/>
              </a:lnSpc>
              <a:spcBef>
                <a:spcPct val="0"/>
              </a:spcBef>
            </a:pPr>
            <a:r>
              <a:rPr lang="en-US" b="true" sz="2727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↓</a:t>
            </a:r>
          </a:p>
          <a:p>
            <a:pPr algn="ctr">
              <a:lnSpc>
                <a:spcPts val="7050"/>
              </a:lnSpc>
              <a:spcBef>
                <a:spcPct val="0"/>
              </a:spcBef>
            </a:pPr>
            <a:r>
              <a:rPr lang="en-US" b="true" sz="5036">
                <a:solidFill>
                  <a:srgbClr val="FF313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NECESIDAD DEL USUARIO</a:t>
            </a:r>
          </a:p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027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Recordar + identificar la dosis + confirmar la interacción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677391" y="5371432"/>
            <a:ext cx="4135477" cy="4114800"/>
          </a:xfrm>
          <a:custGeom>
            <a:avLst/>
            <a:gdLst/>
            <a:ahLst/>
            <a:cxnLst/>
            <a:rect r="r" b="b" t="t" l="l"/>
            <a:pathLst>
              <a:path h="4114800" w="4135477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4548983" y="379357"/>
            <a:ext cx="14084169" cy="158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b="true" sz="6099" spc="744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contexto y </a:t>
            </a:r>
          </a:p>
          <a:p>
            <a:pPr algn="ctr">
              <a:lnSpc>
                <a:spcPts val="6099"/>
              </a:lnSpc>
            </a:pPr>
            <a:r>
              <a:rPr lang="en-US" b="true" sz="6099" spc="744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usuario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84713" y="570548"/>
            <a:ext cx="9243549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2" indent="-518161" lvl="1">
              <a:lnSpc>
                <a:spcPts val="6720"/>
              </a:lnSpc>
              <a:buAutoNum type="arabicPeriod" startAt="1"/>
            </a:pPr>
            <a:r>
              <a:rPr lang="en-US" b="true" sz="48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¿QUÉ SE HACE ACTUALMENTE?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5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8815" y="7568563"/>
            <a:ext cx="18446815" cy="5436874"/>
            <a:chOff x="0" y="0"/>
            <a:chExt cx="4858420" cy="1431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8420" cy="1431934"/>
            </a:xfrm>
            <a:custGeom>
              <a:avLst/>
              <a:gdLst/>
              <a:ahLst/>
              <a:cxnLst/>
              <a:rect r="r" b="b" t="t" l="l"/>
              <a:pathLst>
                <a:path h="1431934" w="4858420">
                  <a:moveTo>
                    <a:pt x="0" y="0"/>
                  </a:moveTo>
                  <a:lnTo>
                    <a:pt x="4858420" y="0"/>
                  </a:lnTo>
                  <a:lnTo>
                    <a:pt x="4858420" y="1431934"/>
                  </a:lnTo>
                  <a:lnTo>
                    <a:pt x="0" y="1431934"/>
                  </a:lnTo>
                  <a:close/>
                </a:path>
              </a:pathLst>
            </a:custGeom>
            <a:solidFill>
              <a:srgbClr val="2B485F">
                <a:alpha val="8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58420" cy="1479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93749" y="896710"/>
            <a:ext cx="11272520" cy="121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8"/>
              </a:lnSpc>
            </a:pPr>
            <a:r>
              <a:rPr lang="en-US" sz="9108" spc="1111" b="true">
                <a:solidFill>
                  <a:srgbClr val="2B485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enfoque de solución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83692" y="931059"/>
            <a:ext cx="6719165" cy="93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439" b="true">
                <a:solidFill>
                  <a:srgbClr val="2B485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sistema inteligente </a:t>
            </a:r>
          </a:p>
          <a:p>
            <a:pPr algn="l">
              <a:lnSpc>
                <a:spcPts val="3600"/>
              </a:lnSpc>
            </a:pPr>
            <a:r>
              <a:rPr lang="en-US" sz="3600" spc="439" b="true">
                <a:solidFill>
                  <a:srgbClr val="2B485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para gestión de medicamentos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749" y="2084691"/>
            <a:ext cx="8568887" cy="48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439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¿cómo vamos a resolver este problema?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4643" y="3121119"/>
            <a:ext cx="6492964" cy="2055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3299" spc="402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permite abordar en un mismo </a:t>
            </a:r>
          </a:p>
          <a:p>
            <a:pPr algn="l">
              <a:lnSpc>
                <a:spcPts val="3299"/>
              </a:lnSpc>
            </a:pPr>
            <a:r>
              <a:rPr lang="en-US" sz="3299" spc="402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sistema los principales problemas identificados: el olvido de horarios, la confusión de dosis, </a:t>
            </a:r>
          </a:p>
          <a:p>
            <a:pPr algn="l">
              <a:lnSpc>
                <a:spcPts val="3299"/>
              </a:lnSpc>
            </a:pPr>
            <a:r>
              <a:rPr lang="en-US" sz="3299" spc="402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la falta de registro de la toma.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54694" y="3597066"/>
            <a:ext cx="10885681" cy="109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7" indent="-313054" lvl="1">
              <a:lnSpc>
                <a:spcPts val="2899"/>
              </a:lnSpc>
              <a:buFont typeface="Arial"/>
              <a:buChar char="•"/>
            </a:pPr>
            <a:r>
              <a:rPr lang="en-US" sz="2899" spc="353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genera recordatorios en horarios programados.</a:t>
            </a:r>
          </a:p>
          <a:p>
            <a:pPr algn="l" marL="626107" indent="-313054" lvl="1">
              <a:lnSpc>
                <a:spcPts val="2899"/>
              </a:lnSpc>
              <a:buFont typeface="Arial"/>
              <a:buChar char="•"/>
            </a:pPr>
            <a:r>
              <a:rPr lang="en-US" sz="2899" spc="353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regista la interacción del usuario en el dispositivo. </a:t>
            </a:r>
          </a:p>
          <a:p>
            <a:pPr algn="l" marL="626107" indent="-313054" lvl="1">
              <a:lnSpc>
                <a:spcPts val="2899"/>
              </a:lnSpc>
              <a:buFont typeface="Arial"/>
              <a:buChar char="•"/>
            </a:pPr>
            <a:r>
              <a:rPr lang="en-US" sz="2899" spc="353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entrega la pastilla correspondiente en el momento indicado.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4643" y="5804940"/>
            <a:ext cx="17298714" cy="127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 spc="402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pacientes: porque reciben apoyo para recaudar y organizar su medicación diaria.</a:t>
            </a:r>
          </a:p>
          <a:p>
            <a:pPr algn="l">
              <a:lnSpc>
                <a:spcPts val="3300"/>
              </a:lnSpc>
            </a:pPr>
            <a:r>
              <a:rPr lang="en-US" sz="3300" spc="402">
                <a:solidFill>
                  <a:srgbClr val="2B485F"/>
                </a:solidFill>
                <a:latin typeface="Bebas Neue"/>
                <a:ea typeface="Bebas Neue"/>
                <a:cs typeface="Bebas Neue"/>
                <a:sym typeface="Bebas Neue"/>
              </a:rPr>
              <a:t>cuidadores o familiares: porque pueden tener mayor información sobre el cumplimiento del tratamiento, diminuyendo la necesidad de supervición constante.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049960"/>
            <a:ext cx="15867873" cy="139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600" spc="43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dispositivo portátil conectado a una aplicación que busca facilitar el cumplimiento de tratamientos diarios mediante recordatorios y registro de la toma.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8700"/>
            <a:ext cx="12677541" cy="4104847"/>
            <a:chOff x="0" y="0"/>
            <a:chExt cx="3338941" cy="1081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8941" cy="1081112"/>
            </a:xfrm>
            <a:custGeom>
              <a:avLst/>
              <a:gdLst/>
              <a:ahLst/>
              <a:cxnLst/>
              <a:rect r="r" b="b" t="t" l="l"/>
              <a:pathLst>
                <a:path h="1081112" w="3338941">
                  <a:moveTo>
                    <a:pt x="0" y="0"/>
                  </a:moveTo>
                  <a:lnTo>
                    <a:pt x="3338941" y="0"/>
                  </a:lnTo>
                  <a:lnTo>
                    <a:pt x="3338941" y="1081112"/>
                  </a:lnTo>
                  <a:lnTo>
                    <a:pt x="0" y="1081112"/>
                  </a:lnTo>
                  <a:close/>
                </a:path>
              </a:pathLst>
            </a:custGeom>
            <a:solidFill>
              <a:srgbClr val="CAE6DE">
                <a:alpha val="1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38941" cy="1128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5401" y="5719840"/>
            <a:ext cx="686815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spc="915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implementación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5401" y="2848153"/>
            <a:ext cx="9496164" cy="40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158"/>
              </a:lnSpc>
              <a:buFont typeface="Arial"/>
              <a:buChar char="•"/>
            </a:pPr>
            <a:r>
              <a:rPr lang="en-US" sz="2699" spc="32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integrar distintas necesidades en un único 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5401" y="3256006"/>
            <a:ext cx="10818955" cy="80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158"/>
              </a:lnSpc>
              <a:buFont typeface="Arial"/>
              <a:buChar char="•"/>
            </a:pPr>
            <a:r>
              <a:rPr lang="en-US" sz="2699" spc="32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La propuesta es conceptualmente viable porque combina funciones</a:t>
            </a:r>
          </a:p>
          <a:p>
            <a:pPr algn="l">
              <a:lnSpc>
                <a:spcPts val="3158"/>
              </a:lnSpc>
            </a:pPr>
            <a:r>
              <a:rPr lang="en-US" sz="2699" spc="32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     que pueden implementarse de manera progresiva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5401" y="4151356"/>
            <a:ext cx="8772183" cy="40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158"/>
              </a:lnSpc>
              <a:buFont typeface="Arial"/>
              <a:buChar char="•"/>
            </a:pPr>
            <a:r>
              <a:rPr lang="en-US" sz="2699" spc="32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disminuir, facilitar y reducir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5401" y="1449095"/>
            <a:ext cx="686815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spc="915">
                <a:solidFill>
                  <a:srgbClr val="CAE6DE"/>
                </a:solidFill>
                <a:latin typeface="Bebas Neue"/>
                <a:ea typeface="Bebas Neue"/>
                <a:cs typeface="Bebas Neue"/>
                <a:sym typeface="Bebas Neue"/>
              </a:rPr>
              <a:t>justificación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6497" y="6904903"/>
            <a:ext cx="16811262" cy="239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99" spc="32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 involucra personas entre 18 y 50 años con capacidades mentales completas, considerando factores como la facilidad de usar, su tamaño portátil, funcionamiento seguro y alertas claras. esto facilitando la adaptación </a:t>
            </a:r>
          </a:p>
          <a:p>
            <a:pPr algn="l">
              <a:lnSpc>
                <a:spcPts val="3158"/>
              </a:lnSpc>
            </a:pPr>
            <a:r>
              <a:rPr lang="en-US" sz="2699" spc="32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 otros tratamientos y perfiles de usuarios distintos permitiendo a futuro utilizarse no solo de manera individual, sino también en residencias, centros de cuidado o instituciones donde exista administración frecuente de medicamentos.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3606640" y="-539732"/>
            <a:ext cx="6216511" cy="2180382"/>
          </a:xfrm>
          <a:custGeom>
            <a:avLst/>
            <a:gdLst/>
            <a:ahLst/>
            <a:cxnLst/>
            <a:rect r="r" b="b" t="t" l="l"/>
            <a:pathLst>
              <a:path h="2180382" w="6216511">
                <a:moveTo>
                  <a:pt x="0" y="0"/>
                </a:moveTo>
                <a:lnTo>
                  <a:pt x="6216512" y="0"/>
                </a:lnTo>
                <a:lnTo>
                  <a:pt x="6216512" y="2180382"/>
                </a:lnTo>
                <a:lnTo>
                  <a:pt x="0" y="2180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C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84488" y="4615676"/>
            <a:ext cx="10290799" cy="95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4"/>
              </a:lnSpc>
            </a:pPr>
            <a:r>
              <a:rPr lang="en-US" sz="5617" spc="685" b="true">
                <a:solidFill>
                  <a:srgbClr val="355E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Gracias por su atención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DAHSj7QZSGI</dc:identifier>
  <dcterms:modified xsi:type="dcterms:W3CDTF">2011-08-01T06:04:30Z</dcterms:modified>
  <cp:revision>1</cp:revision>
  <dc:title>Presentación Empresa Financiera Tecnológica Azul</dc:title>
</cp:coreProperties>
</file>